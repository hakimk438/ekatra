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Problem: separate files. Solution: join by Permanent ID and warn. Show the red light and the 'asked before' warning.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Walk the six steps. The letter never leaves the computer; names never auto-link; the log cannot be edited.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It already runs on free tiers with tests; each risk has a built-in answer.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Each role gains one thing; the college stops receiving clashing letters.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Sources are public; data is synthetic; only the 21-day CPGRAMS limit is verified.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Ekatra: one place where every AICTE unit sees the others' work on a college, before acting.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ekatra-nzsvx7asi-hakimk438.vercel.app/" TargetMode="External"/><Relationship Id="rId5" Type="http://schemas.openxmlformats.org/officeDocument/2006/relationships/hyperlink" Target="https://github.com/HakimK438/Ekatra" TargetMode="External"/><Relationship Id="rId6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74320" y="-526757"/>
            <a:ext cx="9418320" cy="2076450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6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1783080"/>
            <a:ext cx="5760720" cy="34290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228600" indent="-228600">
              <a:spcAft>
                <a:spcPts val="900"/>
              </a:spcAft>
              <a:buClr>
                <a:srgbClr val="14284B"/>
              </a:buClr>
              <a:buFont typeface="Arial"/>
              <a:buChar char="•"/>
            </a:pPr>
            <a:r>
              <a:rPr sz="1700" b="1" i="0">
                <a:solidFill>
                  <a:srgbClr val="14284B"/>
                </a:solidFill>
                <a:latin typeface="Arial"/>
              </a:rPr>
              <a:t>Problem Statement ID – </a:t>
            </a:r>
            <a:r>
              <a:rPr sz="1700" b="0" i="0">
                <a:solidFill>
                  <a:srgbClr val="1F2937"/>
                </a:solidFill>
                <a:latin typeface="Arial"/>
              </a:rPr>
              <a:t>SIH26264</a:t>
            </a:r>
          </a:p>
          <a:p>
            <a:pPr marL="228600" indent="-228600">
              <a:spcAft>
                <a:spcPts val="900"/>
              </a:spcAft>
              <a:buClr>
                <a:srgbClr val="14284B"/>
              </a:buClr>
              <a:buFont typeface="Arial"/>
              <a:buChar char="•"/>
            </a:pPr>
            <a:r>
              <a:rPr sz="1700" b="1" i="0">
                <a:solidFill>
                  <a:srgbClr val="14284B"/>
                </a:solidFill>
                <a:latin typeface="Arial"/>
              </a:rPr>
              <a:t>Problem Statement Title – </a:t>
            </a:r>
            <a:r>
              <a:rPr sz="1700" b="0" i="0">
                <a:solidFill>
                  <a:srgbClr val="1F2937"/>
                </a:solidFill>
                <a:latin typeface="Arial"/>
              </a:rPr>
              <a:t>Integrated Monitoring of Institution-Related Complaint Cases Across AICTE Bureaus/Cells</a:t>
            </a:r>
          </a:p>
          <a:p>
            <a:pPr marL="228600" indent="-228600">
              <a:spcAft>
                <a:spcPts val="900"/>
              </a:spcAft>
              <a:buClr>
                <a:srgbClr val="14284B"/>
              </a:buClr>
              <a:buFont typeface="Arial"/>
              <a:buChar char="•"/>
            </a:pPr>
            <a:r>
              <a:rPr sz="1700" b="1" i="0">
                <a:solidFill>
                  <a:srgbClr val="14284B"/>
                </a:solidFill>
                <a:latin typeface="Arial"/>
              </a:rPr>
              <a:t>Theme – </a:t>
            </a:r>
            <a:r>
              <a:rPr sz="1700" b="0" i="0">
                <a:solidFill>
                  <a:srgbClr val="1F2937"/>
                </a:solidFill>
                <a:latin typeface="Arial"/>
              </a:rPr>
              <a:t>Smart Automation</a:t>
            </a:r>
          </a:p>
          <a:p>
            <a:pPr marL="228600" indent="-228600">
              <a:spcAft>
                <a:spcPts val="900"/>
              </a:spcAft>
              <a:buClr>
                <a:srgbClr val="14284B"/>
              </a:buClr>
              <a:buFont typeface="Arial"/>
              <a:buChar char="•"/>
            </a:pPr>
            <a:r>
              <a:rPr sz="1700" b="1" i="0">
                <a:solidFill>
                  <a:srgbClr val="14284B"/>
                </a:solidFill>
                <a:latin typeface="Arial"/>
              </a:rPr>
              <a:t>PS Category – </a:t>
            </a:r>
            <a:r>
              <a:rPr sz="1700" b="0" i="0">
                <a:solidFill>
                  <a:srgbClr val="1F2937"/>
                </a:solidFill>
                <a:latin typeface="Arial"/>
              </a:rPr>
              <a:t>Software</a:t>
            </a:r>
          </a:p>
          <a:p>
            <a:pPr marL="228600" indent="-228600">
              <a:spcAft>
                <a:spcPts val="900"/>
              </a:spcAft>
              <a:buClr>
                <a:srgbClr val="14284B"/>
              </a:buClr>
              <a:buFont typeface="Arial"/>
              <a:buChar char="•"/>
            </a:pPr>
            <a:r>
              <a:rPr sz="1700" b="1" i="0">
                <a:solidFill>
                  <a:srgbClr val="14284B"/>
                </a:solidFill>
                <a:latin typeface="Arial"/>
              </a:rPr>
              <a:t>Team ID – </a:t>
            </a:r>
            <a:r>
              <a:rPr sz="1700" b="0" i="0">
                <a:solidFill>
                  <a:srgbClr val="1F2937"/>
                </a:solidFill>
                <a:latin typeface="Arial"/>
              </a:rPr>
              <a:t/>
            </a:r>
          </a:p>
          <a:p>
            <a:pPr marL="228600" indent="-228600">
              <a:spcAft>
                <a:spcPts val="900"/>
              </a:spcAft>
              <a:buClr>
                <a:srgbClr val="14284B"/>
              </a:buClr>
              <a:buFont typeface="Arial"/>
              <a:buChar char="•"/>
            </a:pPr>
            <a:r>
              <a:rPr sz="1700" b="1" i="0">
                <a:solidFill>
                  <a:srgbClr val="14284B"/>
                </a:solidFill>
                <a:latin typeface="Arial"/>
              </a:rPr>
              <a:t>Team Name (Registered on portal) – </a:t>
            </a:r>
            <a:r>
              <a:rPr sz="1700" b="0" i="0">
                <a:solidFill>
                  <a:srgbClr val="1F2937"/>
                </a:solidFill>
                <a:latin typeface="Arial"/>
              </a:rPr>
              <a:t>Bugs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Project banner"/>
          <p:cNvSpPr/>
          <p:nvPr/>
        </p:nvSpPr>
        <p:spPr>
          <a:xfrm>
            <a:off x="411480" y="5349240"/>
            <a:ext cx="5989320" cy="1097280"/>
          </a:xfrm>
          <a:prstGeom prst="roundRect">
            <a:avLst>
              <a:gd name="adj" fmla="val 10000"/>
            </a:avLst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01168" tIns="73152" rIns="182880" bIns="73152"/>
          <a:lstStyle/>
          <a:p>
            <a:pPr>
              <a:spcAft>
                <a:spcPts val="300"/>
              </a:spcAft>
              <a:buNone/>
            </a:pPr>
            <a:r>
              <a:rPr sz="2200" b="1" i="0">
                <a:solidFill>
                  <a:srgbClr val="FFFFFF"/>
                </a:solidFill>
                <a:latin typeface="Arial"/>
              </a:rPr>
              <a:t>PROJECT: EKATRA</a:t>
            </a:r>
            <a:r>
              <a:rPr sz="1500" b="0" i="0">
                <a:solidFill>
                  <a:srgbClr val="F6C38B"/>
                </a:solidFill>
                <a:latin typeface="Arial"/>
                <a:cs typeface="Nirmala UI"/>
              </a:rPr>
              <a:t>   (एकत्र, </a:t>
            </a:r>
            <a:r>
              <a:rPr sz="1500" b="0" i="0">
                <a:solidFill>
                  <a:srgbClr val="F6C38B"/>
                </a:solidFill>
                <a:latin typeface="Arial"/>
              </a:rPr>
              <a:t>“gathered in one place”)</a:t>
            </a:r>
          </a:p>
          <a:p>
            <a:pPr>
              <a:spcAft>
                <a:spcPts val="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Arial"/>
              </a:rPr>
              <a:t>Every AICTE unit’s work on a college, in one place, checked before anyone acts.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9893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>
              <a:spcAft>
                <a:spcPts val="0"/>
              </a:spcAft>
              <a:buNone/>
            </a:pPr>
            <a:r>
              <a:rPr sz="1200" b="0" i="1">
                <a:solidFill>
                  <a:srgbClr val="4B5563"/>
                </a:solidFill>
                <a:latin typeface="Arial"/>
              </a:rPr>
              <a:t>Prototype · all data synthetic · not an official AICTE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09560" cy="914400"/>
          </a:xfrm>
        </p:spPr>
        <p:txBody>
          <a:bodyPr anchor="ctr"/>
          <a:lstStyle/>
          <a:p>
            <a:pPr eaLnBrk="1" hangingPunct="1" algn="ctr"/>
            <a:r>
              <a:rPr sz="3200" b="1">
                <a:solidFill>
                  <a:srgbClr val="14284B"/>
                </a:solidFill>
                <a:latin typeface="Times New Roman"/>
              </a:rPr>
              <a:t>IDEA TITLE: EKATRA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284B"/>
                </a:solidFill>
                <a:latin typeface="Arial"/>
              </a:rPr>
              <a:t>Bugs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11480" y="1143000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42244"/>
                </a:solidFill>
                <a:latin typeface="Arial"/>
              </a:rPr>
              <a:t>Units write to the same college without seeing each other. Ekatra shows them first.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11480" y="1874519"/>
            <a:ext cx="475488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B4560A"/>
                </a:solidFill>
                <a:latin typeface="Arial"/>
              </a:rPr>
              <a:t>THE PROBLEM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142244"/>
                </a:solidFill>
                <a:latin typeface="Arial"/>
              </a:rPr>
              <a:t>PGRC, the Regulation Bureau and Regional Offices act on one college from separate files, so letters clash and deadlines slip.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4560A"/>
                </a:solidFill>
                <a:latin typeface="Arial"/>
              </a:rPr>
              <a:t>OUR SOLUTION</a:t>
            </a:r>
          </a:p>
          <a:p>
            <a:pPr>
              <a:spcAft>
                <a:spcPts val="1600"/>
              </a:spcAft>
            </a:pPr>
            <a:r>
              <a:rPr sz="1600" b="0">
                <a:solidFill>
                  <a:srgbClr val="142244"/>
                </a:solidFill>
                <a:latin typeface="Arial"/>
              </a:rPr>
              <a:t>Ekatra joins every unit’s cases and letters by the college’s AICTE Permanent ID and warns before a clash.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B4560A"/>
                </a:solidFill>
                <a:latin typeface="Arial"/>
              </a:rPr>
              <a:t>WHAT IS NEW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42244"/>
                </a:solidFill>
                <a:latin typeface="Arial"/>
              </a:rPr>
              <a:t>Drop a letter, </a:t>
            </a:r>
            <a:r>
              <a:rPr sz="1600" b="0">
                <a:solidFill>
                  <a:srgbClr val="142244"/>
                </a:solidFill>
                <a:latin typeface="Arial"/>
              </a:rPr>
              <a:t>the form fills itself.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42244"/>
                </a:solidFill>
                <a:latin typeface="Arial"/>
              </a:rPr>
              <a:t>Already asked? </a:t>
            </a:r>
            <a:r>
              <a:rPr sz="1600" b="0">
                <a:solidFill>
                  <a:srgbClr val="142244"/>
                </a:solidFill>
                <a:latin typeface="Arial"/>
              </a:rPr>
              <a:t>Ekatra says who asked, and when.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42244"/>
                </a:solidFill>
                <a:latin typeface="Arial"/>
              </a:rPr>
              <a:t>Red light </a:t>
            </a:r>
            <a:r>
              <a:rPr sz="1600" b="0">
                <a:solidFill>
                  <a:srgbClr val="142244"/>
                </a:solidFill>
                <a:latin typeface="Arial"/>
              </a:rPr>
              <a:t>before a clashing notice or closure.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42244"/>
                </a:solidFill>
                <a:latin typeface="Arial"/>
              </a:rPr>
              <a:t>Who else is on it: </a:t>
            </a:r>
            <a:r>
              <a:rPr sz="1600" b="0">
                <a:solidFill>
                  <a:srgbClr val="142244"/>
                </a:solidFill>
                <a:latin typeface="Arial"/>
              </a:rPr>
              <a:t>every officer sees it.</a:t>
            </a:r>
          </a:p>
        </p:txBody>
      </p:sp>
      <p:pic>
        <p:nvPicPr>
          <p:cNvPr id="15364" name="Picture 15363" descr="crop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783080"/>
            <a:ext cx="5669280" cy="2503075"/>
          </a:xfrm>
          <a:prstGeom prst="rect">
            <a:avLst/>
          </a:prstGeom>
        </p:spPr>
      </p:pic>
      <p:pic>
        <p:nvPicPr>
          <p:cNvPr id="15365" name="Picture 15364" descr="crop_findin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4423315"/>
            <a:ext cx="5669280" cy="1547434"/>
          </a:xfrm>
          <a:prstGeom prst="rect">
            <a:avLst/>
          </a:prstGeom>
        </p:spPr>
      </p:pic>
      <p:sp>
        <p:nvSpPr>
          <p:cNvPr id="15366" name="TextBox 15365"/>
          <p:cNvSpPr txBox="1"/>
          <p:nvPr/>
        </p:nvSpPr>
        <p:spPr>
          <a:xfrm>
            <a:off x="6080760" y="601647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6475"/>
                </a:solidFill>
                <a:latin typeface="Arial"/>
              </a:rPr>
              <a:t>Live screens from Ekatra. Synthetic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09560" cy="914400"/>
          </a:xfrm>
        </p:spPr>
        <p:txBody>
          <a:bodyPr anchor="ctr"/>
          <a:lstStyle/>
          <a:p>
            <a:pPr eaLnBrk="1" hangingPunct="1" algn="ctr"/>
            <a:r>
              <a:rPr sz="3200" b="1">
                <a:solidFill>
                  <a:srgbClr val="14284B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284B"/>
                </a:solidFill>
                <a:latin typeface="Arial"/>
              </a:rPr>
              <a:t>Bugs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43000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42244"/>
                </a:solidFill>
                <a:latin typeface="Arial"/>
              </a:rPr>
              <a:t>Letter  →  Read  →  Match  →  Check  →  Decide  →  Watch  →  Record</a:t>
            </a:r>
          </a:p>
        </p:txBody>
      </p:sp>
      <p:pic>
        <p:nvPicPr>
          <p:cNvPr id="17411" name="Picture 17410" descr="crop_oc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828800"/>
            <a:ext cx="4023360" cy="3367282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411480" y="525780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6475"/>
                </a:solidFill>
                <a:latin typeface="Arial"/>
              </a:rPr>
              <a:t>A scanned letter read in the browser: 96% confidence on our sample.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846320" y="1828800"/>
            <a:ext cx="69037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142244"/>
                </a:solidFill>
                <a:latin typeface="Arial"/>
              </a:rPr>
              <a:t>Read: </a:t>
            </a:r>
            <a:r>
              <a:rPr sz="1600" b="0">
                <a:solidFill>
                  <a:srgbClr val="142244"/>
                </a:solidFill>
                <a:latin typeface="Arial"/>
              </a:rPr>
              <a:t>PDF text exactly; scans by OCR in English and Hindi, never uploaded.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42244"/>
                </a:solidFill>
                <a:latin typeface="Arial"/>
              </a:rPr>
              <a:t>Match: </a:t>
            </a:r>
            <a:r>
              <a:rPr sz="1600" b="0">
                <a:solidFill>
                  <a:srgbClr val="142244"/>
                </a:solidFill>
                <a:latin typeface="Arial"/>
              </a:rPr>
              <a:t>an AICTE ID links the college; a name alone is only a suggestion.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42244"/>
                </a:solidFill>
                <a:latin typeface="Arial"/>
              </a:rPr>
              <a:t>Check: </a:t>
            </a:r>
            <a:r>
              <a:rPr sz="1600" b="0">
                <a:solidFill>
                  <a:srgbClr val="142244"/>
                </a:solidFill>
                <a:latin typeface="Arial"/>
              </a:rPr>
              <a:t>fixed rules catch two units on one college, a document asked twice, a reply due near a hearing.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42244"/>
                </a:solidFill>
                <a:latin typeface="Arial"/>
              </a:rPr>
              <a:t>Decide: </a:t>
            </a:r>
            <a:r>
              <a:rPr sz="1600" b="0">
                <a:solidFill>
                  <a:srgbClr val="142244"/>
                </a:solidFill>
                <a:latin typeface="Arial"/>
              </a:rPr>
              <a:t>the officer chooses; Ekatra never closes, merges or transfers a case.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42244"/>
                </a:solidFill>
                <a:latin typeface="Arial"/>
              </a:rPr>
              <a:t>Watch: </a:t>
            </a:r>
            <a:r>
              <a:rPr sz="1600" b="0">
                <a:solidFill>
                  <a:srgbClr val="142244"/>
                </a:solidFill>
                <a:latin typeface="Arial"/>
              </a:rPr>
              <a:t>every deadline checked hourly; late work goes up to the nodal officer.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42244"/>
                </a:solidFill>
                <a:latin typeface="Arial"/>
              </a:rPr>
              <a:t>Record: </a:t>
            </a:r>
            <a:r>
              <a:rPr sz="1600" b="0">
                <a:solidFill>
                  <a:srgbClr val="142244"/>
                </a:solidFill>
                <a:latin typeface="Arial"/>
              </a:rPr>
              <a:t>each action in a hash-chained log the database will not let anyone edit.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846320" y="5623560"/>
            <a:ext cx="6903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B4560A"/>
                </a:solidFill>
                <a:latin typeface="Arial"/>
              </a:rPr>
              <a:t>Built with  </a:t>
            </a:r>
            <a:r>
              <a:rPr sz="1300" b="0">
                <a:solidFill>
                  <a:srgbClr val="142244"/>
                </a:solidFill>
                <a:latin typeface="Arial"/>
              </a:rPr>
              <a:t>React · FastAPI · PostgreSQL (Neon) · Tesseract OCR · Vercel — all on free tiers.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09560" cy="914400"/>
          </a:xfrm>
        </p:spPr>
        <p:txBody>
          <a:bodyPr anchor="ctr"/>
          <a:lstStyle/>
          <a:p>
            <a:pPr eaLnBrk="1" hangingPunct="1" algn="ctr"/>
            <a:r>
              <a:rPr sz="3200" b="1">
                <a:solidFill>
                  <a:srgbClr val="14284B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284B"/>
                </a:solidFill>
                <a:latin typeface="Arial"/>
              </a:rPr>
              <a:t>Bugs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43000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42244"/>
                </a:solidFill>
                <a:latin typeface="Arial"/>
              </a:rPr>
              <a:t>It runs today, costs nothing, and asks units to change nothing.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11480" y="1828800"/>
            <a:ext cx="65836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B4560A"/>
                </a:solidFill>
                <a:latin typeface="Arial"/>
              </a:rPr>
              <a:t>WHY IT IS FEASIBLE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42244"/>
                </a:solidFill>
                <a:latin typeface="Arial"/>
              </a:rPr>
              <a:t>Working: </a:t>
            </a:r>
            <a:r>
              <a:rPr sz="1500" b="0">
                <a:solidFill>
                  <a:srgbClr val="142244"/>
                </a:solidFill>
                <a:latin typeface="Arial"/>
              </a:rPr>
              <a:t>real database, sign-in, seven roles, 300 automated tests passing.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42244"/>
                </a:solidFill>
                <a:latin typeface="Arial"/>
              </a:rPr>
              <a:t>Free: </a:t>
            </a:r>
            <a:r>
              <a:rPr sz="1500" b="0">
                <a:solidFill>
                  <a:srgbClr val="142244"/>
                </a:solidFill>
                <a:latin typeface="Arial"/>
              </a:rPr>
              <a:t>Vercel, Neon and GitHub free tiers; no paid service.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42244"/>
                </a:solidFill>
                <a:latin typeface="Arial"/>
              </a:rPr>
              <a:t>Fast: </a:t>
            </a:r>
            <a:r>
              <a:rPr sz="1500" b="0">
                <a:solidFill>
                  <a:srgbClr val="142244"/>
                </a:solidFill>
                <a:latin typeface="Arial"/>
              </a:rPr>
              <a:t>a page loads in about 0.6 s even with 10,000 cases.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42244"/>
                </a:solidFill>
                <a:latin typeface="Arial"/>
              </a:rPr>
              <a:t>Beside, not instead: </a:t>
            </a:r>
            <a:r>
              <a:rPr sz="1500" b="0">
                <a:solidFill>
                  <a:srgbClr val="142244"/>
                </a:solidFill>
                <a:latin typeface="Arial"/>
              </a:rPr>
              <a:t>units keep CPGRAMS and e-Office; Ekatra reads their files.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11480" y="4069080"/>
            <a:ext cx="65836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B4560A"/>
                </a:solidFill>
                <a:latin typeface="Arial"/>
              </a:rPr>
              <a:t>RISKS AND OUR ANSWER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42244"/>
                </a:solidFill>
                <a:latin typeface="Arial"/>
              </a:rPr>
              <a:t>Wrong college linked → </a:t>
            </a:r>
            <a:r>
              <a:rPr sz="1500" b="0">
                <a:solidFill>
                  <a:srgbClr val="142244"/>
                </a:solidFill>
                <a:latin typeface="Arial"/>
              </a:rPr>
              <a:t>a name only suggests; a person confirms.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42244"/>
                </a:solidFill>
                <a:latin typeface="Arial"/>
              </a:rPr>
              <a:t>A bad rule change → </a:t>
            </a:r>
            <a:r>
              <a:rPr sz="1500" b="0">
                <a:solidFill>
                  <a:srgbClr val="142244"/>
                </a:solidFill>
                <a:latin typeface="Arial"/>
              </a:rPr>
              <a:t>it shows its effect first and needs a second approver.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42244"/>
                </a:solidFill>
                <a:latin typeface="Arial"/>
              </a:rPr>
              <a:t>Private details leak → </a:t>
            </a:r>
            <a:r>
              <a:rPr sz="1500" b="0">
                <a:solidFill>
                  <a:srgbClr val="142244"/>
                </a:solidFill>
                <a:latin typeface="Arial"/>
              </a:rPr>
              <a:t>complainant names stay with the owning unit.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42244"/>
                </a:solidFill>
                <a:latin typeface="Arial"/>
              </a:rPr>
              <a:t>A poor scan → </a:t>
            </a:r>
            <a:r>
              <a:rPr sz="1500" b="0">
                <a:solidFill>
                  <a:srgbClr val="142244"/>
                </a:solidFill>
                <a:latin typeface="Arial"/>
              </a:rPr>
              <a:t>every fact shows its source words; the officer corrects it.</a:t>
            </a:r>
          </a:p>
        </p:txBody>
      </p:sp>
      <p:pic>
        <p:nvPicPr>
          <p:cNvPr id="17413" name="Picture 17412" descr="deck_poli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828800"/>
            <a:ext cx="3986249" cy="3977639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7589520" y="5879592"/>
            <a:ext cx="398624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6475"/>
                </a:solidFill>
                <a:latin typeface="Arial"/>
              </a:rPr>
              <a:t>A rule change, before approval: its effect on today’s cases.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09560" cy="914400"/>
          </a:xfrm>
        </p:spPr>
        <p:txBody>
          <a:bodyPr anchor="ctr"/>
          <a:lstStyle/>
          <a:p>
            <a:pPr eaLnBrk="1" hangingPunct="1" algn="ctr"/>
            <a:r>
              <a:rPr sz="3200" b="1">
                <a:solidFill>
                  <a:srgbClr val="14284B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284B"/>
                </a:solidFill>
                <a:latin typeface="Arial"/>
              </a:rPr>
              <a:t>Bugs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43000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42244"/>
                </a:solidFill>
                <a:latin typeface="Arial"/>
              </a:rPr>
              <a:t>Everyone sees the same picture, so the college gets one clear message.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11480" y="1828800"/>
            <a:ext cx="45720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B4560A"/>
                </a:solidFill>
                <a:latin typeface="Arial"/>
              </a:rPr>
              <a:t>WHO GAINS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42244"/>
                </a:solidFill>
                <a:latin typeface="Arial"/>
              </a:rPr>
              <a:t>Dealing officer: </a:t>
            </a:r>
            <a:r>
              <a:rPr sz="1500" b="0">
                <a:solidFill>
                  <a:srgbClr val="142244"/>
                </a:solidFill>
                <a:latin typeface="Arial"/>
              </a:rPr>
              <a:t>sees who else is on the college before writing.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42244"/>
                </a:solidFill>
                <a:latin typeface="Arial"/>
              </a:rPr>
              <a:t>Nodal officer: </a:t>
            </a:r>
            <a:r>
              <a:rPr sz="1500" b="0">
                <a:solidFill>
                  <a:srgbClr val="142244"/>
                </a:solidFill>
                <a:latin typeface="Arial"/>
              </a:rPr>
              <a:t>hands out work by load and spots late replies.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42244"/>
                </a:solidFill>
                <a:latin typeface="Arial"/>
              </a:rPr>
              <a:t>Coordinator: </a:t>
            </a:r>
            <a:r>
              <a:rPr sz="1500" b="0">
                <a:solidFill>
                  <a:srgbClr val="142244"/>
                </a:solidFill>
                <a:latin typeface="Arial"/>
              </a:rPr>
              <a:t>one list of clashes to settle.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42244"/>
                </a:solidFill>
                <a:latin typeface="Arial"/>
              </a:rPr>
              <a:t>Senior management: </a:t>
            </a:r>
            <a:r>
              <a:rPr sz="1500" b="0">
                <a:solidFill>
                  <a:srgbClr val="142244"/>
                </a:solidFill>
                <a:latin typeface="Arial"/>
              </a:rPr>
              <a:t>true counts; rule changes need their approval.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142244"/>
                </a:solidFill>
                <a:latin typeface="Arial"/>
              </a:rPr>
              <a:t>The college: </a:t>
            </a:r>
            <a:r>
              <a:rPr sz="1500" b="0">
                <a:solidFill>
                  <a:srgbClr val="142244"/>
                </a:solidFill>
                <a:latin typeface="Arial"/>
              </a:rPr>
              <a:t>one request, one date, not five letters.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5A6475"/>
                </a:solidFill>
                <a:latin typeface="Arial"/>
              </a:rPr>
              <a:t>All figures in Ekatra come from records; transfers are counted apart from closures.</a:t>
            </a:r>
          </a:p>
        </p:txBody>
      </p:sp>
      <p:pic>
        <p:nvPicPr>
          <p:cNvPr id="17412" name="Picture 17411" descr="deck_cel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783080"/>
            <a:ext cx="5669280" cy="3119603"/>
          </a:xfrm>
          <a:prstGeom prst="rect">
            <a:avLst/>
          </a:prstGeom>
        </p:spPr>
      </p:pic>
      <p:pic>
        <p:nvPicPr>
          <p:cNvPr id="17413" name="Picture 17412" descr="deck_te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5012411"/>
            <a:ext cx="5669280" cy="944879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6080760" y="6003011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6475"/>
                </a:solidFill>
                <a:latin typeface="Arial"/>
              </a:rPr>
              <a:t>Live: open work by department, and who else is on your college. Synthetic data.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909560" cy="914400"/>
          </a:xfrm>
        </p:spPr>
        <p:txBody>
          <a:bodyPr anchor="ctr"/>
          <a:lstStyle/>
          <a:p>
            <a:pPr eaLnBrk="1" hangingPunct="1" algn="ctr"/>
            <a:r>
              <a:rPr sz="3200" b="1">
                <a:solidFill>
                  <a:srgbClr val="14284B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4284B"/>
                </a:solidFill>
                <a:latin typeface="Arial"/>
              </a:rPr>
              <a:t>Bugs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143000"/>
            <a:ext cx="66751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B4560A"/>
                </a:solidFill>
                <a:latin typeface="Arial"/>
              </a:rPr>
              <a:t>SOURCES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B4560A"/>
                </a:solidFill>
                <a:latin typeface="Arial"/>
              </a:rPr>
              <a:t>[1] </a:t>
            </a:r>
            <a:r>
              <a:rPr sz="1250" b="1">
                <a:solidFill>
                  <a:srgbClr val="142244"/>
                </a:solidFill>
                <a:latin typeface="Arial"/>
              </a:rPr>
              <a:t>DARPG (2024). </a:t>
            </a:r>
            <a:r>
              <a:rPr sz="1250" b="0">
                <a:solidFill>
                  <a:srgbClr val="142244"/>
                </a:solidFill>
                <a:latin typeface="Arial"/>
              </a:rPr>
              <a:t>Guidelines for handling public grievances: 21-day limit, interim reply, appeal.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B4560A"/>
                </a:solidFill>
                <a:latin typeface="Arial"/>
              </a:rPr>
              <a:t>[2] </a:t>
            </a:r>
            <a:r>
              <a:rPr sz="1250" b="1">
                <a:solidFill>
                  <a:srgbClr val="142244"/>
                </a:solidFill>
                <a:latin typeface="Arial"/>
              </a:rPr>
              <a:t>AICTE. </a:t>
            </a:r>
            <a:r>
              <a:rPr sz="1250" b="0">
                <a:solidFill>
                  <a:srgbClr val="142244"/>
                </a:solidFill>
                <a:latin typeface="Arial"/>
              </a:rPr>
              <a:t>Approval Process Handbook 2024–27: complaint and penal-action route.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B4560A"/>
                </a:solidFill>
                <a:latin typeface="Arial"/>
              </a:rPr>
              <a:t>[3] </a:t>
            </a:r>
            <a:r>
              <a:rPr sz="1250" b="1">
                <a:solidFill>
                  <a:srgbClr val="142244"/>
                </a:solidFill>
                <a:latin typeface="Arial"/>
              </a:rPr>
              <a:t>AICTE. </a:t>
            </a:r>
            <a:r>
              <a:rPr sz="1250" b="0">
                <a:solidFill>
                  <a:srgbClr val="142244"/>
                </a:solidFill>
                <a:latin typeface="Arial"/>
              </a:rPr>
              <a:t>PGRC roles; SHC/SAC hearing schedules listing institutions by Permanent ID.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B4560A"/>
                </a:solidFill>
                <a:latin typeface="Arial"/>
              </a:rPr>
              <a:t>[4] </a:t>
            </a:r>
            <a:r>
              <a:rPr sz="1250" b="1">
                <a:solidFill>
                  <a:srgbClr val="142244"/>
                </a:solidFill>
                <a:latin typeface="Arial"/>
              </a:rPr>
              <a:t>Parliamentary Standing Committee. </a:t>
            </a:r>
            <a:r>
              <a:rPr sz="1250" b="0">
                <a:solidFill>
                  <a:srgbClr val="142244"/>
                </a:solidFill>
                <a:latin typeface="Arial"/>
              </a:rPr>
              <a:t>Strengthening grievance redressal (via PRS India): closures without valid reasons.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B4560A"/>
                </a:solidFill>
                <a:latin typeface="Arial"/>
              </a:rPr>
              <a:t>[5] </a:t>
            </a:r>
            <a:r>
              <a:rPr sz="1250" b="1">
                <a:solidFill>
                  <a:srgbClr val="142244"/>
                </a:solidFill>
                <a:latin typeface="Arial"/>
              </a:rPr>
              <a:t>Fellegi &amp; Sunter (1969). </a:t>
            </a:r>
            <a:r>
              <a:rPr sz="1250" b="0">
                <a:solidFill>
                  <a:srgbClr val="142244"/>
                </a:solidFill>
                <a:latin typeface="Arial"/>
              </a:rPr>
              <a:t>A theory for record linkage. JASA 64(328).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B4560A"/>
                </a:solidFill>
                <a:latin typeface="Arial"/>
              </a:rPr>
              <a:t>[6] </a:t>
            </a:r>
            <a:r>
              <a:rPr sz="1250" b="1">
                <a:solidFill>
                  <a:srgbClr val="142244"/>
                </a:solidFill>
                <a:latin typeface="Arial"/>
              </a:rPr>
              <a:t>Smith, R. (2007). </a:t>
            </a:r>
            <a:r>
              <a:rPr sz="1250" b="0">
                <a:solidFill>
                  <a:srgbClr val="142244"/>
                </a:solidFill>
                <a:latin typeface="Arial"/>
              </a:rPr>
              <a:t>An overview of the Tesseract OCR engine. ICDAR.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B4560A"/>
                </a:solidFill>
                <a:latin typeface="Arial"/>
              </a:rPr>
              <a:t>[7] </a:t>
            </a:r>
            <a:r>
              <a:rPr sz="1250" b="1">
                <a:solidFill>
                  <a:srgbClr val="142244"/>
                </a:solidFill>
                <a:latin typeface="Arial"/>
              </a:rPr>
              <a:t>Sauvola &amp; Pietikäinen (2000). </a:t>
            </a:r>
            <a:r>
              <a:rPr sz="1250" b="0">
                <a:solidFill>
                  <a:srgbClr val="142244"/>
                </a:solidFill>
                <a:latin typeface="Arial"/>
              </a:rPr>
              <a:t>Adaptive document image binarization. Pattern Recognition 33(2).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B4560A"/>
                </a:solidFill>
                <a:latin typeface="Arial"/>
              </a:rPr>
              <a:t>[8] </a:t>
            </a:r>
            <a:r>
              <a:rPr sz="1250" b="1">
                <a:solidFill>
                  <a:srgbClr val="142244"/>
                </a:solidFill>
                <a:latin typeface="Arial"/>
              </a:rPr>
              <a:t>Govt. of India. </a:t>
            </a:r>
            <a:r>
              <a:rPr sz="1250" b="0">
                <a:solidFill>
                  <a:srgbClr val="142244"/>
                </a:solidFill>
                <a:latin typeface="Arial"/>
              </a:rPr>
              <a:t>Digital Personal Data Protection Act 2023 and Rules 2025.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11480" y="525780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B4560A"/>
                </a:solidFill>
                <a:latin typeface="Arial"/>
              </a:rPr>
              <a:t>Prototype  </a:t>
            </a:r>
            <a:r>
              <a:rPr sz="1300" b="0">
                <a:solidFill>
                  <a:srgbClr val="142244"/>
                </a:solidFill>
                <a:latin typeface="Arial"/>
              </a:rPr>
              <a:t>ekatra-nzsvx7asi-hakimk438.vercel.app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B4560A"/>
                </a:solidFill>
                <a:latin typeface="Arial"/>
              </a:rPr>
              <a:t>Code  </a:t>
            </a:r>
            <a:r>
              <a:rPr sz="1300" b="0">
                <a:solidFill>
                  <a:srgbClr val="142244"/>
                </a:solidFill>
                <a:latin typeface="Arial"/>
              </a:rPr>
              <a:t>github.com/HakimK438/Ekatra</a:t>
            </a:r>
          </a:p>
        </p:txBody>
      </p:sp>
      <p:pic>
        <p:nvPicPr>
          <p:cNvPr id="17412" name="Picture 17411" descr="aicte-hq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79" y="1188720"/>
            <a:ext cx="4251960" cy="3383851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7498079" y="4618291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A6475"/>
                </a:solidFill>
                <a:latin typeface="Arial"/>
              </a:rPr>
              <a:t>AICTE head office, New Delhi. Photo: Timothy A. Gonsalves, CC BY-SA 4.0, Wikimedia Commons.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498079" y="5075491"/>
            <a:ext cx="4251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B4560A"/>
                </a:solidFill>
                <a:latin typeface="Arial"/>
              </a:rPr>
              <a:t>WHAT IS REAL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42244"/>
                </a:solidFill>
                <a:latin typeface="Arial"/>
              </a:rPr>
              <a:t>All cases are synthetic; no public case data exists.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42244"/>
                </a:solidFill>
                <a:latin typeface="Arial"/>
              </a:rPr>
              <a:t>Only the CPGRAMS 21 days is verified; other limits are prototype settings.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42244"/>
                </a:solidFill>
                <a:latin typeface="Arial"/>
              </a:rPr>
              <a:t>Ekatra advises; people decide.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D4ED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