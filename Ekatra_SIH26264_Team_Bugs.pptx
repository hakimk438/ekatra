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ekatra-nzsvx7asi-hakimk438.vercel.app/" TargetMode="External"/><Relationship Id="rId5" Type="http://schemas.openxmlformats.org/officeDocument/2006/relationships/hyperlink" Target="https://github.com/HakimK438/Ekatr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74320" y="-526757"/>
            <a:ext cx="9418320" cy="2076450"/>
          </a:xfrm>
        </p:spPr>
        <p:txBody>
          <a:bodyPr/>
          <a:lstStyle/>
          <a:p>
            <a:r>
              <a:rPr lang="en-US" sz="36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6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1480" y="1783080"/>
            <a:ext cx="5760720" cy="3429000"/>
          </a:xfrm>
          <a:prstGeom prst="rect">
            <a:avLst/>
          </a:prstGeom>
          <a:noFill/>
        </p:spPr>
        <p:txBody>
          <a:bodyPr wrap="square" rtlCol="0" lIns="0" tIns="0" rIns="0" bIns="0"/>
          <a:lstStyle/>
          <a:p>
            <a:pPr marL="228600" indent="-228600">
              <a:spcAft>
                <a:spcPts val="900"/>
              </a:spcAft>
              <a:buClr>
                <a:srgbClr val="14284B"/>
              </a:buClr>
              <a:buFont typeface="Arial"/>
              <a:buChar char="•"/>
            </a:pPr>
            <a:r>
              <a:rPr sz="1700" b="1" i="0">
                <a:solidFill>
                  <a:srgbClr val="14284B"/>
                </a:solidFill>
                <a:latin typeface="Arial"/>
              </a:rPr>
              <a:t>Problem Statement ID –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SIH26264</a:t>
            </a:r>
          </a:p>
          <a:p>
            <a:pPr marL="228600" indent="-228600">
              <a:spcAft>
                <a:spcPts val="900"/>
              </a:spcAft>
              <a:buClr>
                <a:srgbClr val="14284B"/>
              </a:buClr>
              <a:buFont typeface="Arial"/>
              <a:buChar char="•"/>
            </a:pPr>
            <a:r>
              <a:rPr sz="1700" b="1" i="0">
                <a:solidFill>
                  <a:srgbClr val="14284B"/>
                </a:solidFill>
                <a:latin typeface="Arial"/>
              </a:rPr>
              <a:t>Problem Statement Title –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Integrated Monitoring of Institution-Related Complaint Cases Across AICTE Bureaus/Cells</a:t>
            </a:r>
          </a:p>
          <a:p>
            <a:pPr marL="228600" indent="-228600">
              <a:spcAft>
                <a:spcPts val="900"/>
              </a:spcAft>
              <a:buClr>
                <a:srgbClr val="14284B"/>
              </a:buClr>
              <a:buFont typeface="Arial"/>
              <a:buChar char="•"/>
            </a:pPr>
            <a:r>
              <a:rPr sz="1700" b="1" i="0">
                <a:solidFill>
                  <a:srgbClr val="14284B"/>
                </a:solidFill>
                <a:latin typeface="Arial"/>
              </a:rPr>
              <a:t>Theme –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Smart Automation</a:t>
            </a:r>
          </a:p>
          <a:p>
            <a:pPr marL="228600" indent="-228600">
              <a:spcAft>
                <a:spcPts val="900"/>
              </a:spcAft>
              <a:buClr>
                <a:srgbClr val="14284B"/>
              </a:buClr>
              <a:buFont typeface="Arial"/>
              <a:buChar char="•"/>
            </a:pPr>
            <a:r>
              <a:rPr sz="1700" b="1" i="0">
                <a:solidFill>
                  <a:srgbClr val="14284B"/>
                </a:solidFill>
                <a:latin typeface="Arial"/>
              </a:rPr>
              <a:t>PS Category –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Software</a:t>
            </a:r>
          </a:p>
          <a:p>
            <a:pPr marL="228600" indent="-228600">
              <a:spcAft>
                <a:spcPts val="900"/>
              </a:spcAft>
              <a:buClr>
                <a:srgbClr val="14284B"/>
              </a:buClr>
              <a:buFont typeface="Arial"/>
              <a:buChar char="•"/>
            </a:pPr>
            <a:r>
              <a:rPr sz="1700" b="1" i="0">
                <a:solidFill>
                  <a:srgbClr val="14284B"/>
                </a:solidFill>
                <a:latin typeface="Arial"/>
              </a:rPr>
              <a:t>Team ID – </a:t>
            </a:r>
            <a:r>
              <a:rPr sz="1700" b="0" i="0">
                <a:solidFill>
                  <a:srgbClr val="1F2937"/>
                </a:solidFill>
                <a:latin typeface="Arial"/>
              </a:rPr>
              <a:t/>
            </a:r>
          </a:p>
          <a:p>
            <a:pPr marL="228600" indent="-228600">
              <a:spcAft>
                <a:spcPts val="900"/>
              </a:spcAft>
              <a:buClr>
                <a:srgbClr val="14284B"/>
              </a:buClr>
              <a:buFont typeface="Arial"/>
              <a:buChar char="•"/>
            </a:pPr>
            <a:r>
              <a:rPr sz="1700" b="1" i="0">
                <a:solidFill>
                  <a:srgbClr val="14284B"/>
                </a:solidFill>
                <a:latin typeface="Arial"/>
              </a:rPr>
              <a:t>Team Name (Registered on portal) –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Bugs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Project banner"/>
          <p:cNvSpPr/>
          <p:nvPr/>
        </p:nvSpPr>
        <p:spPr>
          <a:xfrm>
            <a:off x="411480" y="5349240"/>
            <a:ext cx="5989320" cy="1097280"/>
          </a:xfrm>
          <a:prstGeom prst="roundRect">
            <a:avLst>
              <a:gd name="adj" fmla="val 10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tIns="73152" rIns="182880" bIns="73152"/>
          <a:lstStyle/>
          <a:p>
            <a:pPr>
              <a:spcAft>
                <a:spcPts val="30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PROJECT: EKATRA</a:t>
            </a:r>
            <a:r>
              <a:rPr sz="1500" b="0" i="0">
                <a:solidFill>
                  <a:srgbClr val="F6C38B"/>
                </a:solidFill>
                <a:latin typeface="Arial"/>
                <a:cs typeface="Nirmala UI"/>
              </a:rPr>
              <a:t>   (एकत्र, </a:t>
            </a:r>
            <a:r>
              <a:rPr sz="1500" b="0" i="0">
                <a:solidFill>
                  <a:srgbClr val="F6C38B"/>
                </a:solidFill>
                <a:latin typeface="Arial"/>
              </a:rPr>
              <a:t>“gathered in one place”)</a:t>
            </a:r>
          </a:p>
          <a:p>
            <a:pPr>
              <a:spcAft>
                <a:spcPts val="0"/>
              </a:spcAft>
              <a:buNone/>
            </a:pPr>
            <a:r>
              <a:rPr sz="1400" b="0" i="0">
                <a:solidFill>
                  <a:srgbClr val="FFFFFF"/>
                </a:solidFill>
                <a:latin typeface="Arial"/>
              </a:rPr>
              <a:t>Warns an AICTE officer, before they act, that another unit is already acting on the same institution.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9893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Aft>
                <a:spcPts val="0"/>
              </a:spcAft>
              <a:buNone/>
            </a:pPr>
            <a:r>
              <a:rPr sz="1200" b="0" i="1">
                <a:solidFill>
                  <a:srgbClr val="4B5563"/>
                </a:solidFill>
                <a:latin typeface="Arial"/>
              </a:rPr>
              <a:t>Prototype · all data synthetic · not an official AICTE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83080" y="109728"/>
            <a:ext cx="7909560" cy="914400"/>
          </a:xfrm>
        </p:spPr>
        <p:txBody>
          <a:bodyPr anchor="ctr"/>
          <a:lstStyle/>
          <a:p>
            <a:pPr eaLnBrk="1" hangingPunct="1" algn="ctr"/>
            <a:r>
              <a:rPr sz="3200" b="1">
                <a:solidFill>
                  <a:srgbClr val="14284B"/>
                </a:solidFill>
                <a:latin typeface="Times New Roman"/>
              </a:rPr>
              <a:t>IDEA TITLE: EKATRA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4284B"/>
                </a:solidFill>
                <a:latin typeface="Arial"/>
              </a:rPr>
              <a:t>Bugs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097280"/>
            <a:ext cx="676656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2300" b="1" i="0">
                <a:solidFill>
                  <a:srgbClr val="14284B"/>
                </a:solidFill>
                <a:latin typeface="Arial"/>
              </a:rPr>
              <a:t>One view of every case, before anyone acts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7223760" y="1143000"/>
            <a:ext cx="4553712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>
              <a:spcAft>
                <a:spcPts val="0"/>
              </a:spcAft>
              <a:buNone/>
            </a:pPr>
            <a:r>
              <a:rPr sz="1200" b="0" i="1">
                <a:solidFill>
                  <a:srgbClr val="4B5563"/>
                </a:solidFill>
                <a:latin typeface="Arial"/>
              </a:rPr>
              <a:t>Advisory only · beside CPGRAMS and e-Office · synthetic data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411480" y="1691640"/>
            <a:ext cx="3429000" cy="4526280"/>
          </a:xfrm>
          <a:prstGeom prst="roundRect">
            <a:avLst>
              <a:gd name="adj" fmla="val 3200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5" name="Rounded Rectangle 15364"/>
          <p:cNvSpPr/>
          <p:nvPr/>
        </p:nvSpPr>
        <p:spPr>
          <a:xfrm>
            <a:off x="4114800" y="1691640"/>
            <a:ext cx="4343400" cy="4526280"/>
          </a:xfrm>
          <a:prstGeom prst="roundRect">
            <a:avLst>
              <a:gd name="adj" fmla="val 2526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6" name="Rounded Rectangle 15365"/>
          <p:cNvSpPr/>
          <p:nvPr/>
        </p:nvSpPr>
        <p:spPr>
          <a:xfrm>
            <a:off x="8732520" y="1691640"/>
            <a:ext cx="3044952" cy="4526280"/>
          </a:xfrm>
          <a:prstGeom prst="roundRect">
            <a:avLst>
              <a:gd name="adj" fmla="val 3603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7" name="TextBox 15366"/>
          <p:cNvSpPr txBox="1"/>
          <p:nvPr/>
        </p:nvSpPr>
        <p:spPr>
          <a:xfrm>
            <a:off x="594360" y="1801368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A8530A"/>
                </a:solidFill>
                <a:latin typeface="Arial"/>
              </a:rPr>
              <a:t>THE PROBLEM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4297680" y="1801368"/>
            <a:ext cx="3977639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A8530A"/>
                </a:solidFill>
                <a:latin typeface="Arial"/>
              </a:rPr>
              <a:t>PROPOSED SOLUTION</a:t>
            </a:r>
          </a:p>
          <a:p>
            <a:pPr>
              <a:spcAft>
                <a:spcPts val="0"/>
              </a:spcAft>
              <a:buNone/>
            </a:pPr>
            <a:r>
              <a:rPr sz="1200" b="0" i="1">
                <a:solidFill>
                  <a:srgbClr val="4B5563"/>
                </a:solidFill>
                <a:latin typeface="Arial"/>
              </a:rPr>
              <a:t>How it addresses the problem, in five parts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8915400" y="1801368"/>
            <a:ext cx="2679192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A8530A"/>
                </a:solidFill>
                <a:latin typeface="Arial"/>
              </a:rPr>
              <a:t>INNOVATION AND UNIQUENESS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594360" y="2194560"/>
            <a:ext cx="960120" cy="502920"/>
          </a:xfrm>
          <a:prstGeom prst="roundRect">
            <a:avLst>
              <a:gd name="adj" fmla="val 12727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7432" tIns="18288" rIns="27432" bIns="18288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PGRC</a:t>
            </a:r>
          </a:p>
        </p:txBody>
      </p:sp>
      <p:cxnSp>
        <p:nvCxnSpPr>
          <p:cNvPr id="15371" name="Connector 15370"/>
          <p:cNvCxnSpPr/>
          <p:nvPr/>
        </p:nvCxnSpPr>
        <p:spPr>
          <a:xfrm>
            <a:off x="1074420" y="2697480"/>
            <a:ext cx="0" cy="841248"/>
          </a:xfrm>
          <a:prstGeom prst="line">
            <a:avLst/>
          </a:prstGeom>
          <a:ln w="19050">
            <a:solidFill>
              <a:srgbClr val="A853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2" name="Rounded Rectangle 15371"/>
          <p:cNvSpPr/>
          <p:nvPr/>
        </p:nvSpPr>
        <p:spPr>
          <a:xfrm>
            <a:off x="690372" y="2907792"/>
            <a:ext cx="768096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88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Notice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1673352" y="2194560"/>
            <a:ext cx="960120" cy="502920"/>
          </a:xfrm>
          <a:prstGeom prst="roundRect">
            <a:avLst>
              <a:gd name="adj" fmla="val 12727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7432" tIns="18288" rIns="27432" bIns="18288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Regulation Bureau</a:t>
            </a:r>
          </a:p>
        </p:txBody>
      </p:sp>
      <p:cxnSp>
        <p:nvCxnSpPr>
          <p:cNvPr id="15374" name="Connector 15373"/>
          <p:cNvCxnSpPr/>
          <p:nvPr/>
        </p:nvCxnSpPr>
        <p:spPr>
          <a:xfrm>
            <a:off x="2153412" y="2697480"/>
            <a:ext cx="0" cy="841248"/>
          </a:xfrm>
          <a:prstGeom prst="line">
            <a:avLst/>
          </a:prstGeom>
          <a:ln w="19050">
            <a:solidFill>
              <a:srgbClr val="A853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5" name="Rounded Rectangle 15374"/>
          <p:cNvSpPr/>
          <p:nvPr/>
        </p:nvSpPr>
        <p:spPr>
          <a:xfrm>
            <a:off x="1769364" y="2907792"/>
            <a:ext cx="768096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88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Visit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2752344" y="2194560"/>
            <a:ext cx="960120" cy="502920"/>
          </a:xfrm>
          <a:prstGeom prst="roundRect">
            <a:avLst>
              <a:gd name="adj" fmla="val 12727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7432" tIns="18288" rIns="27432" bIns="18288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Regional Office</a:t>
            </a:r>
          </a:p>
        </p:txBody>
      </p:sp>
      <p:cxnSp>
        <p:nvCxnSpPr>
          <p:cNvPr id="15377" name="Connector 15376"/>
          <p:cNvCxnSpPr/>
          <p:nvPr/>
        </p:nvCxnSpPr>
        <p:spPr>
          <a:xfrm>
            <a:off x="3232404" y="2697480"/>
            <a:ext cx="0" cy="841248"/>
          </a:xfrm>
          <a:prstGeom prst="line">
            <a:avLst/>
          </a:prstGeom>
          <a:ln w="19050">
            <a:solidFill>
              <a:srgbClr val="A853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8" name="Rounded Rectangle 15377"/>
          <p:cNvSpPr/>
          <p:nvPr/>
        </p:nvSpPr>
        <p:spPr>
          <a:xfrm>
            <a:off x="2848356" y="2907792"/>
            <a:ext cx="768096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88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Hearing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594360" y="3566160"/>
            <a:ext cx="30632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142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  <a:buNone/>
            </a:pPr>
            <a:r>
              <a:rPr sz="1300" b="1" i="0">
                <a:solidFill>
                  <a:srgbClr val="14284B"/>
                </a:solidFill>
                <a:latin typeface="Arial"/>
              </a:rPr>
              <a:t>One institution, same week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594360" y="4114800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200" b="0" i="1">
                <a:solidFill>
                  <a:srgbClr val="4B5563"/>
                </a:solidFill>
                <a:latin typeface="Arial"/>
              </a:rPr>
              <a:t>Each unit decides right with what it can see. None sees the others.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594360" y="4590288"/>
            <a:ext cx="3108960" cy="1828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155448" indent="-155448">
              <a:spcAft>
                <a:spcPts val="300"/>
              </a:spcAft>
              <a:buClr>
                <a:srgbClr val="E8821A"/>
              </a:buClr>
              <a:buFont typeface="Arial"/>
              <a:buChar char="•"/>
            </a:pPr>
            <a:r>
              <a:rPr sz="1300" b="0" i="0">
                <a:solidFill>
                  <a:srgbClr val="1F2937"/>
                </a:solidFill>
                <a:latin typeface="Arial"/>
              </a:rPr>
              <a:t>Conflicting letters reach one institution</a:t>
            </a:r>
          </a:p>
          <a:p>
            <a:pPr marL="155448" indent="-155448">
              <a:spcAft>
                <a:spcPts val="300"/>
              </a:spcAft>
              <a:buClr>
                <a:srgbClr val="E8821A"/>
              </a:buClr>
              <a:buFont typeface="Arial"/>
              <a:buChar char="•"/>
            </a:pPr>
            <a:r>
              <a:rPr sz="1300" b="0" i="0">
                <a:solidFill>
                  <a:srgbClr val="1F2937"/>
                </a:solidFill>
                <a:latin typeface="Arial"/>
              </a:rPr>
              <a:t>Time limits noticed after they pass</a:t>
            </a:r>
          </a:p>
          <a:p>
            <a:pPr marL="155448" indent="-155448">
              <a:spcAft>
                <a:spcPts val="300"/>
              </a:spcAft>
              <a:buClr>
                <a:srgbClr val="E8821A"/>
              </a:buClr>
              <a:buFont typeface="Arial"/>
              <a:buChar char="•"/>
            </a:pPr>
            <a:r>
              <a:rPr sz="1300" b="0" i="0">
                <a:solidFill>
                  <a:srgbClr val="1F2937"/>
                </a:solidFill>
                <a:latin typeface="Arial"/>
              </a:rPr>
              <a:t>Nobody knows who holds the next step</a:t>
            </a:r>
          </a:p>
          <a:p>
            <a:pPr marL="155448" indent="-155448">
              <a:spcAft>
                <a:spcPts val="300"/>
              </a:spcAft>
              <a:buClr>
                <a:srgbClr val="E8821A"/>
              </a:buClr>
              <a:buFont typeface="Arial"/>
              <a:buChar char="•"/>
            </a:pPr>
            <a:r>
              <a:rPr sz="1300" b="0" i="0">
                <a:solidFill>
                  <a:srgbClr val="1F2937"/>
                </a:solidFill>
                <a:latin typeface="Arial"/>
              </a:rPr>
              <a:t>Monthly counts stitched by hand, cannot be checked</a:t>
            </a:r>
          </a:p>
          <a:p>
            <a:pPr marL="155448" indent="-155448">
              <a:spcAft>
                <a:spcPts val="300"/>
              </a:spcAft>
              <a:buClr>
                <a:srgbClr val="E8821A"/>
              </a:buClr>
              <a:buFont typeface="Arial"/>
              <a:buChar char="•"/>
            </a:pPr>
            <a:r>
              <a:rPr sz="1300" b="0" i="0">
                <a:solidFill>
                  <a:srgbClr val="1F2937"/>
                </a:solidFill>
                <a:latin typeface="Arial"/>
              </a:rPr>
              <a:t>Unit files arrive messy, with repeats</a:t>
            </a:r>
          </a:p>
        </p:txBody>
      </p:sp>
      <p:sp>
        <p:nvSpPr>
          <p:cNvPr id="15382" name="Oval 15381"/>
          <p:cNvSpPr/>
          <p:nvPr/>
        </p:nvSpPr>
        <p:spPr>
          <a:xfrm>
            <a:off x="4297680" y="2377440"/>
            <a:ext cx="310896" cy="310896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4709160" y="2350008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Match: </a:t>
            </a:r>
            <a:r>
              <a:rPr sz="1200" b="0" i="0">
                <a:solidFill>
                  <a:srgbClr val="1F2937"/>
                </a:solidFill>
                <a:latin typeface="Arial"/>
              </a:rPr>
              <a:t>Permanent ID or a verified ID links a case. A look-alike name waits for a coordinator.</a:t>
            </a:r>
          </a:p>
        </p:txBody>
      </p:sp>
      <p:sp>
        <p:nvSpPr>
          <p:cNvPr id="15384" name="Oval 15383"/>
          <p:cNvSpPr/>
          <p:nvPr/>
        </p:nvSpPr>
        <p:spPr>
          <a:xfrm>
            <a:off x="4297680" y="2825496"/>
            <a:ext cx="310896" cy="310896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4709160" y="2798064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Find overlaps: </a:t>
            </a:r>
            <a:r>
              <a:rPr sz="1200" b="0" i="0">
                <a:solidFill>
                  <a:srgbClr val="1F2937"/>
                </a:solidFill>
                <a:latin typeface="Arial"/>
              </a:rPr>
              <a:t>Five fixed rules O1–O5. PGRC and a Regulation Bureau open on one institution = High.</a:t>
            </a:r>
          </a:p>
        </p:txBody>
      </p:sp>
      <p:sp>
        <p:nvSpPr>
          <p:cNvPr id="15386" name="Oval 15385"/>
          <p:cNvSpPr/>
          <p:nvPr/>
        </p:nvSpPr>
        <p:spPr>
          <a:xfrm>
            <a:off x="4297680" y="3273552"/>
            <a:ext cx="310896" cy="310896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387" name="TextBox 15386"/>
          <p:cNvSpPr txBox="1"/>
          <p:nvPr/>
        </p:nvSpPr>
        <p:spPr>
          <a:xfrm>
            <a:off x="4709160" y="324612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Coordinate: </a:t>
            </a:r>
            <a:r>
              <a:rPr sz="1200" b="0" i="0">
                <a:solidFill>
                  <a:srgbClr val="1F2937"/>
                </a:solidFill>
                <a:latin typeface="Arial"/>
              </a:rPr>
              <a:t>An officer records the decision and a reason. Ekatra never merges, closes or transfers.</a:t>
            </a:r>
          </a:p>
        </p:txBody>
      </p:sp>
      <p:sp>
        <p:nvSpPr>
          <p:cNvPr id="15388" name="Oval 15387"/>
          <p:cNvSpPr/>
          <p:nvPr/>
        </p:nvSpPr>
        <p:spPr>
          <a:xfrm>
            <a:off x="4297680" y="3721608"/>
            <a:ext cx="310896" cy="310896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4709160" y="3694176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Watch deadlines: </a:t>
            </a:r>
            <a:r>
              <a:rPr sz="1200" b="0" i="0">
                <a:solidFill>
                  <a:srgbClr val="1F2937"/>
                </a:solidFill>
                <a:latin typeface="Arial"/>
              </a:rPr>
              <a:t>Re-checked hourly: CPGRAMS 21 days, stage time budgets, escalation.</a:t>
            </a:r>
          </a:p>
        </p:txBody>
      </p:sp>
      <p:sp>
        <p:nvSpPr>
          <p:cNvPr id="15390" name="Oval 15389"/>
          <p:cNvSpPr/>
          <p:nvPr/>
        </p:nvSpPr>
        <p:spPr>
          <a:xfrm>
            <a:off x="4297680" y="4169664"/>
            <a:ext cx="310896" cy="310896"/>
          </a:xfrm>
          <a:prstGeom prst="ellipse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4709160" y="4142232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Report: </a:t>
            </a:r>
            <a:r>
              <a:rPr sz="1200" b="0" i="0">
                <a:solidFill>
                  <a:srgbClr val="1F2937"/>
                </a:solidFill>
                <a:latin typeface="Arial"/>
              </a:rPr>
              <a:t>Counts come from records. Transfers kept apart from disposals. Every number opens its cases.</a:t>
            </a:r>
          </a:p>
        </p:txBody>
      </p:sp>
      <p:sp>
        <p:nvSpPr>
          <p:cNvPr id="15392" name="TextBox 15391"/>
          <p:cNvSpPr txBox="1"/>
          <p:nvPr/>
        </p:nvSpPr>
        <p:spPr>
          <a:xfrm>
            <a:off x="4297680" y="4636008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Live screen: </a:t>
            </a:r>
            <a:r>
              <a:rPr sz="1200" b="0" i="0">
                <a:solidFill>
                  <a:srgbClr val="1F2937"/>
                </a:solidFill>
                <a:latin typeface="Arial"/>
              </a:rPr>
              <a:t>a clash flagged on the Calendar</a:t>
            </a:r>
          </a:p>
        </p:txBody>
      </p:sp>
      <p:sp>
        <p:nvSpPr>
          <p:cNvPr id="15393" name="Rounded Rectangle 15392"/>
          <p:cNvSpPr/>
          <p:nvPr/>
        </p:nvSpPr>
        <p:spPr>
          <a:xfrm>
            <a:off x="4448556" y="4910328"/>
            <a:ext cx="3675887" cy="1237661"/>
          </a:xfrm>
          <a:prstGeom prst="roundRect">
            <a:avLst>
              <a:gd name="adj" fmla="val 5910"/>
            </a:avLst>
          </a:prstGeom>
          <a:solidFill>
            <a:srgbClr val="FFFFFF"/>
          </a:solidFill>
          <a:ln w="12700">
            <a:solidFill>
              <a:srgbClr val="CB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94" name="Picture 15393" descr="clash_w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4965192"/>
            <a:ext cx="3566160" cy="1127933"/>
          </a:xfrm>
          <a:prstGeom prst="rect">
            <a:avLst/>
          </a:prstGeom>
        </p:spPr>
      </p:pic>
      <p:sp>
        <p:nvSpPr>
          <p:cNvPr id="15395" name="Rounded Rectangle 15394"/>
          <p:cNvSpPr/>
          <p:nvPr/>
        </p:nvSpPr>
        <p:spPr>
          <a:xfrm>
            <a:off x="8869680" y="2148840"/>
            <a:ext cx="27706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72" tIns="64008"/>
          <a:lstStyle/>
          <a:p>
            <a:pPr>
              <a:spcAft>
                <a:spcPts val="200"/>
              </a:spcAft>
              <a:buNone/>
            </a:pPr>
            <a:r>
              <a:rPr sz="1300" b="1" i="0">
                <a:solidFill>
                  <a:srgbClr val="14284B"/>
                </a:solidFill>
                <a:latin typeface="Arial"/>
              </a:rPr>
              <a:t>“Before you act” check</a:t>
            </a:r>
          </a:p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Green, amber or red light before a notice, closure or transfer. Names the unit to call. Never blocks.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8869680" y="3136392"/>
            <a:ext cx="2770632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72" tIns="64008"/>
          <a:lstStyle/>
          <a:p>
            <a:pPr>
              <a:spcAft>
                <a:spcPts val="200"/>
              </a:spcAft>
              <a:buNone/>
            </a:pPr>
            <a:r>
              <a:rPr sz="1300" b="1" i="0">
                <a:solidFill>
                  <a:srgbClr val="14284B"/>
                </a:solidFill>
                <a:latin typeface="Arial"/>
              </a:rPr>
              <a:t>One owner per next step</a:t>
            </a:r>
          </a:p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Every open case shows who holds the next step, and by when.</a:t>
            </a:r>
          </a:p>
        </p:txBody>
      </p:sp>
      <p:sp>
        <p:nvSpPr>
          <p:cNvPr id="15397" name="Rounded Rectangle 15396"/>
          <p:cNvSpPr/>
          <p:nvPr/>
        </p:nvSpPr>
        <p:spPr>
          <a:xfrm>
            <a:off x="8869680" y="3941064"/>
            <a:ext cx="2770632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72" tIns="64008"/>
          <a:lstStyle/>
          <a:p>
            <a:pPr>
              <a:spcAft>
                <a:spcPts val="200"/>
              </a:spcAft>
              <a:buNone/>
            </a:pPr>
            <a:r>
              <a:rPr sz="1300" b="1" i="0">
                <a:solidFill>
                  <a:srgbClr val="14284B"/>
                </a:solidFill>
                <a:latin typeface="Arial"/>
              </a:rPr>
              <a:t>Collision calendar</a:t>
            </a:r>
          </a:p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Every unit's dated steps on one page. Marks days when two units act on one institution within a week.</a:t>
            </a:r>
          </a:p>
        </p:txBody>
      </p:sp>
      <p:sp>
        <p:nvSpPr>
          <p:cNvPr id="15398" name="Rounded Rectangle 15397"/>
          <p:cNvSpPr/>
          <p:nvPr/>
        </p:nvSpPr>
        <p:spPr>
          <a:xfrm>
            <a:off x="8869680" y="5093208"/>
            <a:ext cx="27706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72" tIns="64008"/>
          <a:lstStyle/>
          <a:p>
            <a:pPr>
              <a:spcAft>
                <a:spcPts val="200"/>
              </a:spcAft>
              <a:buNone/>
            </a:pPr>
            <a:r>
              <a:rPr sz="1300" b="1" i="0">
                <a:solidFill>
                  <a:srgbClr val="14284B"/>
                </a:solidFill>
                <a:latin typeface="Arial"/>
              </a:rPr>
              <a:t>Every figure traceable</a:t>
            </a:r>
          </a:p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Each count opens its cases. Audit log is hash-chained; the database refuses edits.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109728"/>
            <a:ext cx="7909560" cy="914400"/>
          </a:xfrm>
        </p:spPr>
        <p:txBody>
          <a:bodyPr anchor="ctr"/>
          <a:lstStyle/>
          <a:p>
            <a:pPr eaLnBrk="1" hangingPunct="1" algn="ctr"/>
            <a:r>
              <a:rPr sz="3200" b="1">
                <a:solidFill>
                  <a:srgbClr val="14284B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4284B"/>
                </a:solidFill>
                <a:latin typeface="Arial"/>
              </a:rPr>
              <a:t>Bugs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972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A8530A"/>
                </a:solidFill>
                <a:latin typeface="Arial"/>
              </a:rPr>
              <a:t>METHODOLOGY AND PROCESS FOR IMPLEMENTATION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444752"/>
            <a:ext cx="1673352" cy="457200"/>
          </a:xfrm>
          <a:prstGeom prst="roundRect">
            <a:avLst>
              <a:gd name="adj" fmla="val 14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18288" rIns="45720" bIns="18288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1  Import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956816"/>
            <a:ext cx="1673352" cy="1143000"/>
          </a:xfrm>
          <a:prstGeom prst="roundRect">
            <a:avLst>
              <a:gd name="adj" fmla="val 56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64008" rIns="73152"/>
          <a:lstStyle/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CSV checked row by row. Bad rows kept out with the fix. Same file twice: no duplicates.</a:t>
            </a:r>
          </a:p>
        </p:txBody>
      </p:sp>
      <p:sp>
        <p:nvSpPr>
          <p:cNvPr id="17413" name="Isosceles Triangle 17412"/>
          <p:cNvSpPr/>
          <p:nvPr/>
        </p:nvSpPr>
        <p:spPr>
          <a:xfrm rot="5400000">
            <a:off x="2148840" y="1581912"/>
            <a:ext cx="182880" cy="182880"/>
          </a:xfrm>
          <a:prstGeom prst="triangle">
            <a:avLst/>
          </a:prstGeom>
          <a:solidFill>
            <a:srgbClr val="E8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350008" y="1444752"/>
            <a:ext cx="1673352" cy="457200"/>
          </a:xfrm>
          <a:prstGeom prst="roundRect">
            <a:avLst>
              <a:gd name="adj" fmla="val 14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18288" rIns="45720" bIns="18288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2  Match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2350008" y="1956816"/>
            <a:ext cx="1673352" cy="1143000"/>
          </a:xfrm>
          <a:prstGeom prst="roundRect">
            <a:avLst>
              <a:gd name="adj" fmla="val 56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64008" rIns="73152"/>
          <a:lstStyle/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Permanent ID or verified ID first. Name look-alikes go to a coordinator.</a:t>
            </a:r>
          </a:p>
        </p:txBody>
      </p:sp>
      <p:sp>
        <p:nvSpPr>
          <p:cNvPr id="17416" name="Isosceles Triangle 17415"/>
          <p:cNvSpPr/>
          <p:nvPr/>
        </p:nvSpPr>
        <p:spPr>
          <a:xfrm rot="5400000">
            <a:off x="4087368" y="1581912"/>
            <a:ext cx="182880" cy="182880"/>
          </a:xfrm>
          <a:prstGeom prst="triangle">
            <a:avLst/>
          </a:prstGeom>
          <a:solidFill>
            <a:srgbClr val="E8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4288536" y="1444752"/>
            <a:ext cx="1673352" cy="457200"/>
          </a:xfrm>
          <a:prstGeom prst="roundRect">
            <a:avLst>
              <a:gd name="adj" fmla="val 14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18288" rIns="45720" bIns="18288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3  Find clashes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288536" y="1956816"/>
            <a:ext cx="1673352" cy="1143000"/>
          </a:xfrm>
          <a:prstGeom prst="roundRect">
            <a:avLst>
              <a:gd name="adj" fmla="val 56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64008" rIns="73152"/>
          <a:lstStyle/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Rules O1–O5. One clash per institution, High or Medium, with the reason.</a:t>
            </a:r>
          </a:p>
        </p:txBody>
      </p:sp>
      <p:sp>
        <p:nvSpPr>
          <p:cNvPr id="17419" name="Isosceles Triangle 17418"/>
          <p:cNvSpPr/>
          <p:nvPr/>
        </p:nvSpPr>
        <p:spPr>
          <a:xfrm rot="5400000">
            <a:off x="6025896" y="1581912"/>
            <a:ext cx="182880" cy="182880"/>
          </a:xfrm>
          <a:prstGeom prst="triangle">
            <a:avLst/>
          </a:prstGeom>
          <a:solidFill>
            <a:srgbClr val="E8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6227064" y="1444752"/>
            <a:ext cx="1673352" cy="457200"/>
          </a:xfrm>
          <a:prstGeom prst="roundRect">
            <a:avLst>
              <a:gd name="adj" fmla="val 14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18288" rIns="45720" bIns="18288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4  Before you act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227064" y="1956816"/>
            <a:ext cx="1673352" cy="1143000"/>
          </a:xfrm>
          <a:prstGeom prst="roundRect">
            <a:avLst>
              <a:gd name="adj" fmla="val 56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64008" rIns="73152"/>
          <a:lstStyle/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Green, amber or red light naming the other unit. Never blocks.</a:t>
            </a:r>
          </a:p>
        </p:txBody>
      </p:sp>
      <p:sp>
        <p:nvSpPr>
          <p:cNvPr id="17422" name="Isosceles Triangle 17421"/>
          <p:cNvSpPr/>
          <p:nvPr/>
        </p:nvSpPr>
        <p:spPr>
          <a:xfrm rot="5400000">
            <a:off x="7964424" y="1581912"/>
            <a:ext cx="182880" cy="182880"/>
          </a:xfrm>
          <a:prstGeom prst="triangle">
            <a:avLst/>
          </a:prstGeom>
          <a:solidFill>
            <a:srgbClr val="E8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8165592" y="1444752"/>
            <a:ext cx="1673352" cy="457200"/>
          </a:xfrm>
          <a:prstGeom prst="roundRect">
            <a:avLst>
              <a:gd name="adj" fmla="val 14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18288" rIns="45720" bIns="18288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5  Watch deadlines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8165592" y="1956816"/>
            <a:ext cx="1673352" cy="1143000"/>
          </a:xfrm>
          <a:prstGeom prst="roundRect">
            <a:avLst>
              <a:gd name="adj" fmla="val 56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64008" rIns="73152"/>
          <a:lstStyle/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Hourly job: due soon, past limit, raise to nodal officer, then senior management.</a:t>
            </a:r>
          </a:p>
        </p:txBody>
      </p:sp>
      <p:sp>
        <p:nvSpPr>
          <p:cNvPr id="17425" name="Isosceles Triangle 17424"/>
          <p:cNvSpPr/>
          <p:nvPr/>
        </p:nvSpPr>
        <p:spPr>
          <a:xfrm rot="5400000">
            <a:off x="9902952" y="1581912"/>
            <a:ext cx="182880" cy="182880"/>
          </a:xfrm>
          <a:prstGeom prst="triangle">
            <a:avLst/>
          </a:prstGeom>
          <a:solidFill>
            <a:srgbClr val="E88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10104120" y="1444752"/>
            <a:ext cx="1673352" cy="457200"/>
          </a:xfrm>
          <a:prstGeom prst="roundRect">
            <a:avLst>
              <a:gd name="adj" fmla="val 14000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18288" rIns="45720" bIns="18288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6  Report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10104120" y="1956816"/>
            <a:ext cx="1673352" cy="1143000"/>
          </a:xfrm>
          <a:prstGeom prst="roundRect">
            <a:avLst>
              <a:gd name="adj" fmla="val 5600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64008" rIns="73152"/>
          <a:lstStyle/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Counts from records, an independent recount, audited CSV export.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11480" y="3200400"/>
            <a:ext cx="11365992" cy="457200"/>
          </a:xfrm>
          <a:prstGeom prst="roundRect">
            <a:avLst>
              <a:gd name="adj" fmla="val 14000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" bIns="18288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A8530A"/>
                </a:solidFill>
                <a:latin typeface="Arial"/>
              </a:rPr>
              <a:t>Audit log under every step: </a:t>
            </a:r>
            <a:r>
              <a:rPr sz="1300" b="0" i="0">
                <a:solidFill>
                  <a:srgbClr val="1F2937"/>
                </a:solidFill>
                <a:latin typeface="Arial"/>
              </a:rPr>
              <a:t>each entry stores the SHA-256 fingerprint of the one before, and a database trigger refuses edits and deletions.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11480" y="3767328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A8530A"/>
                </a:solidFill>
                <a:latin typeface="Arial"/>
              </a:rPr>
              <a:t>TECHNOLOGIES TO BE USED, AND WHY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411480" y="4114800"/>
            <a:ext cx="6903720" cy="402336"/>
          </a:xfrm>
          <a:prstGeom prst="roundRect">
            <a:avLst>
              <a:gd name="adj" fmla="val 11363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548640" y="4114800"/>
            <a:ext cx="91440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Interface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1417320" y="4114800"/>
            <a:ext cx="237744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React + TypeScript + Tailwind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3840480" y="4114800"/>
            <a:ext cx="342900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Typed screens; one rules file shared with the API, kept identical by a test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48640" y="4517136"/>
            <a:ext cx="91440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API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1417320" y="4517136"/>
            <a:ext cx="237744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Python FastAPI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3840480" y="4517136"/>
            <a:ext cx="342900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Matching, clash rules and deadlines run inside; role check on every endpoint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11480" y="4919472"/>
            <a:ext cx="6903720" cy="402336"/>
          </a:xfrm>
          <a:prstGeom prst="roundRect">
            <a:avLst>
              <a:gd name="adj" fmla="val 11363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8" name="TextBox 17437"/>
          <p:cNvSpPr txBox="1"/>
          <p:nvPr/>
        </p:nvSpPr>
        <p:spPr>
          <a:xfrm>
            <a:off x="548640" y="4919472"/>
            <a:ext cx="91440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Database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1417320" y="4919472"/>
            <a:ext cx="237744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PostgreSQL on Neon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3840480" y="4919472"/>
            <a:ext cx="342900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Links cases, institutions and the audit chain; free tier, 1 GB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548640" y="5321808"/>
            <a:ext cx="91440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Matching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1417320" y="5321808"/>
            <a:ext cx="237744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Built-in rules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3840480" y="5321808"/>
            <a:ext cx="342900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No outside AI service or training data; each match shows why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411480" y="5724144"/>
            <a:ext cx="6903720" cy="402336"/>
          </a:xfrm>
          <a:prstGeom prst="roundRect">
            <a:avLst>
              <a:gd name="adj" fmla="val 11363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548640" y="5724144"/>
            <a:ext cx="91440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Hosting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1417320" y="5724144"/>
            <a:ext cx="237744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Vercel + GitHub Actions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3840480" y="5724144"/>
            <a:ext cx="342900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Free tiers; GitHub Actions runs the hourly deadline check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7580375" y="4014216"/>
            <a:ext cx="4206240" cy="1536899"/>
          </a:xfrm>
          <a:prstGeom prst="roundRect">
            <a:avLst>
              <a:gd name="adj" fmla="val 4759"/>
            </a:avLst>
          </a:prstGeom>
          <a:solidFill>
            <a:srgbClr val="FFFFFF"/>
          </a:solidFill>
          <a:ln w="12700">
            <a:solidFill>
              <a:srgbClr val="CB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9" name="Picture 17448" descr="bya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4069080"/>
            <a:ext cx="4096512" cy="1427171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7635240" y="5624267"/>
            <a:ext cx="4114800" cy="5486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Live screen, “Before you act”: </a:t>
            </a:r>
            <a:r>
              <a:rPr sz="1200" b="0" i="0">
                <a:solidFill>
                  <a:srgbClr val="1F2937"/>
                </a:solidFill>
                <a:latin typeface="Arial"/>
              </a:rPr>
              <a:t>green light, no other unit has an open case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109728"/>
            <a:ext cx="7909560" cy="914400"/>
          </a:xfrm>
        </p:spPr>
        <p:txBody>
          <a:bodyPr anchor="ctr"/>
          <a:lstStyle/>
          <a:p>
            <a:pPr eaLnBrk="1" hangingPunct="1" algn="ctr"/>
            <a:r>
              <a:rPr sz="3200" b="1">
                <a:solidFill>
                  <a:srgbClr val="14284B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4284B"/>
                </a:solidFill>
                <a:latin typeface="Arial"/>
              </a:rPr>
              <a:t>Bugs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11480" y="1115568"/>
            <a:ext cx="5550408" cy="2103120"/>
          </a:xfrm>
          <a:prstGeom prst="roundRect">
            <a:avLst>
              <a:gd name="adj" fmla="val 5217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594360" y="1207008"/>
            <a:ext cx="5184648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14284B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94360" y="1554480"/>
            <a:ext cx="5184648" cy="1645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155448" indent="-155448">
              <a:spcAft>
                <a:spcPts val="500"/>
              </a:spcAft>
              <a:buClr>
                <a:srgbClr val="14284B"/>
              </a:buClr>
              <a:buFont typeface="Arial"/>
              <a:buChar char="•"/>
            </a:pPr>
            <a:r>
              <a:rPr sz="1300" b="1" i="0">
                <a:solidFill>
                  <a:srgbClr val="14284B"/>
                </a:solidFill>
                <a:latin typeface="Arial"/>
              </a:rPr>
              <a:t>Working prototype: </a:t>
            </a:r>
            <a:r>
              <a:rPr sz="1300" b="0" i="0">
                <a:solidFill>
                  <a:srgbClr val="1F2937"/>
                </a:solidFill>
                <a:latin typeface="Arial"/>
              </a:rPr>
              <a:t>real database, sign-in, role checks on every endpoint</a:t>
            </a:r>
          </a:p>
          <a:p>
            <a:pPr marL="155448" indent="-155448">
              <a:spcAft>
                <a:spcPts val="500"/>
              </a:spcAft>
              <a:buClr>
                <a:srgbClr val="14284B"/>
              </a:buClr>
              <a:buFont typeface="Arial"/>
              <a:buChar char="•"/>
            </a:pPr>
            <a:r>
              <a:rPr sz="1300" b="1" i="0">
                <a:solidFill>
                  <a:srgbClr val="14284B"/>
                </a:solidFill>
                <a:latin typeface="Arial"/>
              </a:rPr>
              <a:t>Tested: </a:t>
            </a:r>
            <a:r>
              <a:rPr sz="1300" b="0" i="0">
                <a:solidFill>
                  <a:srgbClr val="1F2937"/>
                </a:solidFill>
                <a:latin typeface="Arial"/>
              </a:rPr>
              <a:t>51 backend and 230 frontend tests pass; 17-step judge journey passes</a:t>
            </a:r>
          </a:p>
          <a:p>
            <a:pPr marL="155448" indent="-155448">
              <a:spcAft>
                <a:spcPts val="500"/>
              </a:spcAft>
              <a:buClr>
                <a:srgbClr val="14284B"/>
              </a:buClr>
              <a:buFont typeface="Arial"/>
              <a:buChar char="•"/>
            </a:pPr>
            <a:r>
              <a:rPr sz="1300" b="1" i="0">
                <a:solidFill>
                  <a:srgbClr val="14284B"/>
                </a:solidFill>
                <a:latin typeface="Arial"/>
              </a:rPr>
              <a:t>Free tiers only: </a:t>
            </a:r>
            <a:r>
              <a:rPr sz="1300" b="0" i="0">
                <a:solidFill>
                  <a:srgbClr val="1F2937"/>
                </a:solidFill>
                <a:latin typeface="Arial"/>
              </a:rPr>
              <a:t>Vercel, Neon, GitHub Actions; no paid service</a:t>
            </a:r>
          </a:p>
          <a:p>
            <a:pPr marL="155448" indent="-155448">
              <a:spcAft>
                <a:spcPts val="500"/>
              </a:spcAft>
              <a:buClr>
                <a:srgbClr val="14284B"/>
              </a:buClr>
              <a:buFont typeface="Arial"/>
              <a:buChar char="•"/>
            </a:pPr>
            <a:r>
              <a:rPr sz="1300" b="1" i="0">
                <a:solidFill>
                  <a:srgbClr val="14284B"/>
                </a:solidFill>
                <a:latin typeface="Arial"/>
              </a:rPr>
              <a:t>No change for units: </a:t>
            </a:r>
            <a:r>
              <a:rPr sz="1300" b="0" i="0">
                <a:solidFill>
                  <a:srgbClr val="1F2937"/>
                </a:solidFill>
                <a:latin typeface="Arial"/>
              </a:rPr>
              <a:t>they keep their systems and send a CSV (up to 2,000 rows)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227064" y="1115568"/>
            <a:ext cx="5550408" cy="2103120"/>
          </a:xfrm>
          <a:prstGeom prst="roundRect">
            <a:avLst>
              <a:gd name="adj" fmla="val 5217"/>
            </a:avLst>
          </a:prstGeom>
          <a:solidFill>
            <a:srgbClr val="E5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6409944" y="1207008"/>
            <a:ext cx="5184648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136C33"/>
                </a:solidFill>
                <a:latin typeface="Arial"/>
              </a:rPr>
              <a:t>VIABILITY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409944" y="1554480"/>
            <a:ext cx="5184648" cy="1645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155448" indent="-155448">
              <a:spcAft>
                <a:spcPts val="500"/>
              </a:spcAft>
              <a:buClr>
                <a:srgbClr val="19883F"/>
              </a:buClr>
              <a:buFont typeface="Arial"/>
              <a:buChar char="•"/>
            </a:pPr>
            <a:r>
              <a:rPr sz="1300" b="0" i="0">
                <a:solidFill>
                  <a:srgbClr val="1F2937"/>
                </a:solidFill>
                <a:latin typeface="Arial"/>
              </a:rPr>
              <a:t>Sits beside </a:t>
            </a:r>
            <a:r>
              <a:rPr sz="1300" b="1" i="0">
                <a:solidFill>
                  <a:srgbClr val="136C33"/>
                </a:solidFill>
                <a:latin typeface="Arial"/>
              </a:rPr>
              <a:t>CPGRAMS and e-Office</a:t>
            </a:r>
            <a:r>
              <a:rPr sz="1300" b="0" i="0">
                <a:solidFill>
                  <a:srgbClr val="1F2937"/>
                </a:solidFill>
                <a:latin typeface="Arial"/>
              </a:rPr>
              <a:t>; source units keep ownership</a:t>
            </a:r>
          </a:p>
          <a:p>
            <a:pPr marL="155448" indent="-155448">
              <a:spcAft>
                <a:spcPts val="500"/>
              </a:spcAft>
              <a:buClr>
                <a:srgbClr val="19883F"/>
              </a:buClr>
              <a:buFont typeface="Arial"/>
              <a:buChar char="•"/>
            </a:pPr>
            <a:r>
              <a:rPr sz="1300" b="1" i="0">
                <a:solidFill>
                  <a:srgbClr val="136C33"/>
                </a:solidFill>
                <a:latin typeface="Arial"/>
              </a:rPr>
              <a:t>Pilot path: </a:t>
            </a:r>
            <a:r>
              <a:rPr sz="1300" b="0" i="0">
                <a:solidFill>
                  <a:srgbClr val="1F2937"/>
                </a:solidFill>
                <a:latin typeface="Arial"/>
              </a:rPr>
              <a:t>PGRC plus one Regulation Bureau region first</a:t>
            </a:r>
          </a:p>
          <a:p>
            <a:pPr marL="155448" indent="-155448">
              <a:spcAft>
                <a:spcPts val="500"/>
              </a:spcAft>
              <a:buClr>
                <a:srgbClr val="19883F"/>
              </a:buClr>
              <a:buFont typeface="Arial"/>
              <a:buChar char="•"/>
            </a:pPr>
            <a:r>
              <a:rPr sz="1300" b="1" i="0">
                <a:solidFill>
                  <a:srgbClr val="136C33"/>
                </a:solidFill>
                <a:latin typeface="Arial"/>
              </a:rPr>
              <a:t>Gets stronger </a:t>
            </a:r>
            <a:r>
              <a:rPr sz="1300" b="0" i="0">
                <a:solidFill>
                  <a:srgbClr val="1F2937"/>
                </a:solidFill>
                <a:latin typeface="Arial"/>
              </a:rPr>
              <a:t>as more case files carry the Permanent ID</a:t>
            </a:r>
          </a:p>
          <a:p>
            <a:pPr marL="155448" indent="-155448">
              <a:spcAft>
                <a:spcPts val="500"/>
              </a:spcAft>
              <a:buClr>
                <a:srgbClr val="19883F"/>
              </a:buClr>
              <a:buFont typeface="Arial"/>
              <a:buChar char="•"/>
            </a:pPr>
            <a:r>
              <a:rPr sz="1300" b="1" i="0">
                <a:solidFill>
                  <a:srgbClr val="136C33"/>
                </a:solidFill>
                <a:latin typeface="Arial"/>
              </a:rPr>
              <a:t>Needs from AICTE: </a:t>
            </a:r>
            <a:r>
              <a:rPr sz="1300" b="0" i="0">
                <a:solidFill>
                  <a:srgbClr val="1F2937"/>
                </a:solidFill>
                <a:latin typeface="Arial"/>
              </a:rPr>
              <a:t>a lead-unit rule, official time limits, data feeds</a:t>
            </a:r>
          </a:p>
          <a:p>
            <a:pPr marL="155448" indent="-155448">
              <a:spcAft>
                <a:spcPts val="500"/>
              </a:spcAft>
              <a:buClr>
                <a:srgbClr val="19883F"/>
              </a:buClr>
              <a:buFont typeface="Arial"/>
              <a:buChar char="•"/>
            </a:pPr>
            <a:r>
              <a:rPr sz="1300" b="1" i="0">
                <a:solidFill>
                  <a:srgbClr val="136C33"/>
                </a:solidFill>
                <a:latin typeface="Arial"/>
              </a:rPr>
              <a:t>CSV files today; </a:t>
            </a:r>
            <a:r>
              <a:rPr sz="1300" b="0" i="0">
                <a:solidFill>
                  <a:srgbClr val="1F2937"/>
                </a:solidFill>
                <a:latin typeface="Arial"/>
              </a:rPr>
              <a:t>APIs later, where a unit can expose them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11480" y="3346704"/>
            <a:ext cx="1133856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A8530A"/>
                </a:solidFill>
                <a:latin typeface="Arial"/>
              </a:rPr>
              <a:t>POTENTIAL CHALLENGES AND RISKS  →  STRATEGIES FOR OVERCOMING THESE CHALLENGES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11480" y="3675887"/>
            <a:ext cx="11365992" cy="347472"/>
          </a:xfrm>
          <a:prstGeom prst="roundRect">
            <a:avLst>
              <a:gd name="adj" fmla="val 13157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548640" y="3675887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Risk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337560" y="3675887"/>
            <a:ext cx="822960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Mitigation in Ekatra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11480" y="4078224"/>
            <a:ext cx="11365992" cy="384048"/>
          </a:xfrm>
          <a:prstGeom prst="roundRect">
            <a:avLst>
              <a:gd name="adj" fmla="val 11904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548640" y="4078224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A8530A"/>
                </a:solidFill>
                <a:latin typeface="Arial"/>
              </a:rPr>
              <a:t>Wrong institution link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3337560" y="4078224"/>
            <a:ext cx="8366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1F2937"/>
                </a:solidFill>
                <a:latin typeface="Arial"/>
              </a:rPr>
              <a:t>ID first. A similar name is only a suggestion until a coordinator confirms; the choice is remembered.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11480" y="4507992"/>
            <a:ext cx="11365992" cy="384048"/>
          </a:xfrm>
          <a:prstGeom prst="roundRect">
            <a:avLst>
              <a:gd name="adj" fmla="val 11904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548640" y="4507992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A8530A"/>
                </a:solidFill>
                <a:latin typeface="Arial"/>
              </a:rPr>
              <a:t>Late or missing data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337560" y="4507992"/>
            <a:ext cx="8366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1F2937"/>
                </a:solidFill>
                <a:latin typeface="Arial"/>
              </a:rPr>
              <a:t>Shows when each unit last sent cases and flags a silent unit. Import checks every row and lists the fix.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11480" y="4937760"/>
            <a:ext cx="11365992" cy="384048"/>
          </a:xfrm>
          <a:prstGeom prst="roundRect">
            <a:avLst>
              <a:gd name="adj" fmla="val 11904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548640" y="4937760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A8530A"/>
                </a:solidFill>
                <a:latin typeface="Arial"/>
              </a:rPr>
              <a:t>Alert fatigue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3337560" y="4937760"/>
            <a:ext cx="8366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1F2937"/>
                </a:solidFill>
                <a:latin typeface="Arial"/>
              </a:rPr>
              <a:t>One clash per institution, High or Medium with the rules behind it. A decided clash returns only if a new case joins.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411480" y="5367528"/>
            <a:ext cx="11365992" cy="384048"/>
          </a:xfrm>
          <a:prstGeom prst="roundRect">
            <a:avLst>
              <a:gd name="adj" fmla="val 11904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TextBox 17429"/>
          <p:cNvSpPr txBox="1"/>
          <p:nvPr/>
        </p:nvSpPr>
        <p:spPr>
          <a:xfrm>
            <a:off x="548640" y="5367528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A8530A"/>
                </a:solidFill>
                <a:latin typeface="Arial"/>
              </a:rPr>
              <a:t>No lead-unit rule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3337560" y="5367528"/>
            <a:ext cx="8366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1F2937"/>
                </a:solidFill>
                <a:latin typeface="Arial"/>
              </a:rPr>
              <a:t>Ekatra records the officer's choice and reason and suggests nothing. Lead-unit policy is an open question for AICTE.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11480" y="5797296"/>
            <a:ext cx="11365992" cy="384048"/>
          </a:xfrm>
          <a:prstGeom prst="roundRect">
            <a:avLst>
              <a:gd name="adj" fmla="val 11904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548640" y="5797296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A8530A"/>
                </a:solidFill>
                <a:latin typeface="Arial"/>
              </a:rPr>
              <a:t>Complainant data exposure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3337560" y="5797296"/>
            <a:ext cx="8366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1F2937"/>
                </a:solidFill>
                <a:latin typeface="Arial"/>
              </a:rPr>
              <a:t>Name and narrative only for the owning unit, never in lists or exports; every view audited. DPDP Act 2023 applies.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109728"/>
            <a:ext cx="7909560" cy="914400"/>
          </a:xfrm>
        </p:spPr>
        <p:txBody>
          <a:bodyPr anchor="ctr"/>
          <a:lstStyle/>
          <a:p>
            <a:pPr eaLnBrk="1" hangingPunct="1" algn="ctr"/>
            <a:r>
              <a:rPr sz="3200" b="1">
                <a:solidFill>
                  <a:srgbClr val="14284B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4284B"/>
                </a:solidFill>
                <a:latin typeface="Arial"/>
              </a:rPr>
              <a:t>Bugs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97280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A8530A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444752"/>
            <a:ext cx="1600200" cy="530352"/>
          </a:xfrm>
          <a:prstGeom prst="roundRect">
            <a:avLst>
              <a:gd name="adj" fmla="val 12068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Dealing officer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2121408" y="1444752"/>
            <a:ext cx="361187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1F2937"/>
                </a:solidFill>
                <a:latin typeface="Arial"/>
              </a:rPr>
              <a:t>Sees another unit's open case before sending a notice; knows the next step and its date.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2048256"/>
            <a:ext cx="1600200" cy="530352"/>
          </a:xfrm>
          <a:prstGeom prst="roundRect">
            <a:avLst>
              <a:gd name="adj" fmla="val 12068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Nodal officer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2121408" y="2048256"/>
            <a:ext cx="361187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1F2937"/>
                </a:solidFill>
                <a:latin typeface="Arial"/>
              </a:rPr>
              <a:t>Gets clash cards with the reason for the priority; records a decision and a follow-up.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11480" y="2651760"/>
            <a:ext cx="1600200" cy="530352"/>
          </a:xfrm>
          <a:prstGeom prst="roundRect">
            <a:avLst>
              <a:gd name="adj" fmla="val 12068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Coordinator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2121408" y="2651760"/>
            <a:ext cx="361187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1F2937"/>
                </a:solidFill>
                <a:latin typeface="Arial"/>
              </a:rPr>
              <a:t>Confirms an institution name once; decides any clash across units.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11480" y="3255264"/>
            <a:ext cx="1600200" cy="530352"/>
          </a:xfrm>
          <a:prstGeom prst="roundRect">
            <a:avLst>
              <a:gd name="adj" fmla="val 12068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Senior management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121408" y="3255264"/>
            <a:ext cx="361187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50" b="0" i="0">
                <a:solidFill>
                  <a:srgbClr val="1F2937"/>
                </a:solidFill>
                <a:latin typeface="Arial"/>
              </a:rPr>
              <a:t>Counts from records, transfers apart from disposals; each number opens its cases.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11480" y="3931920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300" b="1" i="0">
                <a:solidFill>
                  <a:srgbClr val="A8530A"/>
                </a:solidFill>
                <a:latin typeface="Arial"/>
              </a:rPr>
              <a:t>BENEFITS OF THE SOLUTION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11480" y="4261104"/>
            <a:ext cx="2583179" cy="896112"/>
          </a:xfrm>
          <a:prstGeom prst="roundRect">
            <a:avLst>
              <a:gd name="adj" fmla="val 7142"/>
            </a:avLst>
          </a:prstGeom>
          <a:solidFill>
            <a:srgbClr val="E5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72" tIns="54864" bIns="36576"/>
          <a:lstStyle/>
          <a:p>
            <a:pPr>
              <a:spcAft>
                <a:spcPts val="200"/>
              </a:spcAft>
              <a:buNone/>
            </a:pPr>
            <a:r>
              <a:rPr sz="1300" b="1" i="0">
                <a:solidFill>
                  <a:srgbClr val="136C33"/>
                </a:solidFill>
                <a:latin typeface="Arial"/>
              </a:rPr>
              <a:t>Social</a:t>
            </a:r>
          </a:p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An institution gets one clear message, not conflicting letters.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177540" y="4261104"/>
            <a:ext cx="2583179" cy="896112"/>
          </a:xfrm>
          <a:prstGeom prst="roundRect">
            <a:avLst>
              <a:gd name="adj" fmla="val 7142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72" tIns="54864" bIns="36576"/>
          <a:lstStyle/>
          <a:p>
            <a:pPr>
              <a:spcAft>
                <a:spcPts val="200"/>
              </a:spcAft>
              <a:buNone/>
            </a:pPr>
            <a:r>
              <a:rPr sz="1300" b="1" i="0">
                <a:solidFill>
                  <a:srgbClr val="14284B"/>
                </a:solidFill>
                <a:latin typeface="Arial"/>
              </a:rPr>
              <a:t>Economic</a:t>
            </a:r>
          </a:p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No days spent stitching counts by hand; less duplicated effort.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411480" y="5239512"/>
            <a:ext cx="2583179" cy="896112"/>
          </a:xfrm>
          <a:prstGeom prst="roundRect">
            <a:avLst>
              <a:gd name="adj" fmla="val 7142"/>
            </a:avLst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72" tIns="54864" bIns="36576"/>
          <a:lstStyle/>
          <a:p>
            <a:pPr>
              <a:spcAft>
                <a:spcPts val="200"/>
              </a:spcAft>
              <a:buNone/>
            </a:pPr>
            <a:r>
              <a:rPr sz="1300" b="1" i="0">
                <a:solidFill>
                  <a:srgbClr val="14284B"/>
                </a:solidFill>
                <a:latin typeface="Arial"/>
              </a:rPr>
              <a:t>Institutional</a:t>
            </a:r>
          </a:p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One named owner for every next step; decisions kept with reasons.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177540" y="5239512"/>
            <a:ext cx="2583179" cy="896112"/>
          </a:xfrm>
          <a:prstGeom prst="roundRect">
            <a:avLst>
              <a:gd name="adj" fmla="val 7142"/>
            </a:avLst>
          </a:prstGeom>
          <a:solidFill>
            <a:srgbClr val="E5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72" tIns="54864" bIns="36576"/>
          <a:lstStyle/>
          <a:p>
            <a:pPr>
              <a:spcAft>
                <a:spcPts val="200"/>
              </a:spcAft>
              <a:buNone/>
            </a:pPr>
            <a:r>
              <a:rPr sz="1300" b="1" i="0">
                <a:solidFill>
                  <a:srgbClr val="136C33"/>
                </a:solidFill>
                <a:latin typeface="Arial"/>
              </a:rPr>
              <a:t>Trust</a:t>
            </a:r>
          </a:p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Every figure traceable; prototype values labelled as such.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035040" y="1115568"/>
            <a:ext cx="1792224" cy="1078992"/>
          </a:xfrm>
          <a:prstGeom prst="roundRect">
            <a:avLst>
              <a:gd name="adj" fmla="val 5932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tIns="73152" rIns="73152" bIns="36576"/>
          <a:lstStyle/>
          <a:p>
            <a:pPr>
              <a:spcAft>
                <a:spcPts val="0"/>
              </a:spcAft>
              <a:buNone/>
            </a:pPr>
            <a:r>
              <a:rPr sz="2800" b="1" i="0">
                <a:solidFill>
                  <a:srgbClr val="A8530A"/>
                </a:solidFill>
                <a:latin typeface="Arial"/>
              </a:rPr>
              <a:t>21 days</a:t>
            </a:r>
          </a:p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CPGRAMS limit, verified (DARPG 2024)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8010144" y="1115568"/>
            <a:ext cx="1792224" cy="1078992"/>
          </a:xfrm>
          <a:prstGeom prst="roundRect">
            <a:avLst>
              <a:gd name="adj" fmla="val 5932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tIns="73152" rIns="73152" bIns="36576"/>
          <a:lstStyle/>
          <a:p>
            <a:pPr>
              <a:spcAft>
                <a:spcPts val="0"/>
              </a:spcAft>
              <a:buNone/>
            </a:pPr>
            <a:r>
              <a:rPr sz="2800" b="1" i="0">
                <a:solidFill>
                  <a:srgbClr val="A8530A"/>
                </a:solidFill>
                <a:latin typeface="Arial"/>
              </a:rPr>
              <a:t>5 rules</a:t>
            </a:r>
          </a:p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O1–O5 find overlaps between units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9985248" y="1115568"/>
            <a:ext cx="1792224" cy="1078992"/>
          </a:xfrm>
          <a:prstGeom prst="roundRect">
            <a:avLst>
              <a:gd name="adj" fmla="val 5932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tIns="73152" rIns="73152" bIns="36576"/>
          <a:lstStyle/>
          <a:p>
            <a:pPr>
              <a:spcAft>
                <a:spcPts val="0"/>
              </a:spcAft>
              <a:buNone/>
            </a:pPr>
            <a:r>
              <a:rPr sz="2800" b="1" i="0">
                <a:solidFill>
                  <a:srgbClr val="A8530A"/>
                </a:solidFill>
                <a:latin typeface="Arial"/>
              </a:rPr>
              <a:t>Hourly</a:t>
            </a:r>
          </a:p>
          <a:p>
            <a:pPr>
              <a:spcAft>
                <a:spcPts val="0"/>
              </a:spcAft>
              <a:buNone/>
            </a:pPr>
            <a:r>
              <a:rPr sz="1200" b="0" i="0">
                <a:solidFill>
                  <a:srgbClr val="1F2937"/>
                </a:solidFill>
                <a:latin typeface="Arial"/>
              </a:rPr>
              <a:t>open cases checked against their limits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035040" y="2340864"/>
            <a:ext cx="5742432" cy="3350084"/>
          </a:xfrm>
          <a:prstGeom prst="roundRect">
            <a:avLst>
              <a:gd name="adj" fmla="val 2183"/>
            </a:avLst>
          </a:prstGeom>
          <a:solidFill>
            <a:srgbClr val="FFFFFF"/>
          </a:solidFill>
          <a:ln w="12700">
            <a:solidFill>
              <a:srgbClr val="CB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8" name="Picture 17427" descr="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9903" y="2395728"/>
            <a:ext cx="5632704" cy="3240356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6035040" y="5745812"/>
            <a:ext cx="5742432" cy="5029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Collision calendar, live: </a:t>
            </a:r>
            <a:r>
              <a:rPr sz="1200" b="0" i="0">
                <a:solidFill>
                  <a:srgbClr val="1F2937"/>
                </a:solidFill>
                <a:latin typeface="Arial"/>
              </a:rPr>
              <a:t>amber days are when two units act on one institution within a week. Figures come from synthetic data.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109728"/>
            <a:ext cx="7909560" cy="914400"/>
          </a:xfrm>
        </p:spPr>
        <p:txBody>
          <a:bodyPr anchor="ctr"/>
          <a:lstStyle/>
          <a:p>
            <a:pPr eaLnBrk="1" hangingPunct="1" algn="ctr"/>
            <a:r>
              <a:rPr sz="3200" b="1">
                <a:solidFill>
                  <a:srgbClr val="14284B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4284B"/>
                </a:solidFill>
                <a:latin typeface="Arial"/>
              </a:rPr>
              <a:t>Bugs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97280"/>
            <a:ext cx="406908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11480" y="1600200"/>
            <a:ext cx="4069080" cy="29260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50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[1] </a:t>
            </a:r>
            <a:r>
              <a:rPr sz="1200" b="1" i="0">
                <a:solidFill>
                  <a:srgbClr val="14284B"/>
                </a:solidFill>
                <a:latin typeface="Arial"/>
              </a:rPr>
              <a:t>DARPG (23 Aug 2024). </a:t>
            </a:r>
            <a:r>
              <a:rPr sz="1200" b="0" i="0">
                <a:solidFill>
                  <a:srgbClr val="1F2937"/>
                </a:solidFill>
                <a:latin typeface="Arial"/>
              </a:rPr>
              <a:t>Comprehensive guidelines for handling public grievances: 21-day limit, interim reply, appeal.</a:t>
            </a:r>
          </a:p>
          <a:p>
            <a:pPr>
              <a:spcAft>
                <a:spcPts val="50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[2] </a:t>
            </a:r>
            <a:r>
              <a:rPr sz="1200" b="1" i="0">
                <a:solidFill>
                  <a:srgbClr val="14284B"/>
                </a:solidFill>
                <a:latin typeface="Arial"/>
              </a:rPr>
              <a:t>AICTE. </a:t>
            </a:r>
            <a:r>
              <a:rPr sz="1200" b="0" i="0">
                <a:solidFill>
                  <a:srgbClr val="1F2937"/>
                </a:solidFill>
                <a:latin typeface="Arial"/>
              </a:rPr>
              <a:t>Approval Process Handbook 2024-25 to 2026-27: complaint and penal-action route.</a:t>
            </a:r>
          </a:p>
          <a:p>
            <a:pPr>
              <a:spcAft>
                <a:spcPts val="50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[3] </a:t>
            </a:r>
            <a:r>
              <a:rPr sz="1200" b="1" i="0">
                <a:solidFill>
                  <a:srgbClr val="14284B"/>
                </a:solidFill>
                <a:latin typeface="Arial"/>
              </a:rPr>
              <a:t>AICTE. </a:t>
            </a:r>
            <a:r>
              <a:rPr sz="1200" b="0" i="0">
                <a:solidFill>
                  <a:srgbClr val="1F2937"/>
                </a:solidFill>
                <a:latin typeface="Arial"/>
              </a:rPr>
              <a:t>PGRC roles and responsibilities; SHC/SAC hearing schedules 2019–2020 (cases by Permanent ID).</a:t>
            </a:r>
          </a:p>
          <a:p>
            <a:pPr>
              <a:spcAft>
                <a:spcPts val="50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[4] </a:t>
            </a:r>
            <a:r>
              <a:rPr sz="1200" b="1" i="0">
                <a:solidFill>
                  <a:srgbClr val="14284B"/>
                </a:solidFill>
                <a:latin typeface="Arial"/>
              </a:rPr>
              <a:t>Fellegi, I. P. &amp; Sunter, A. B. (1969). </a:t>
            </a:r>
            <a:r>
              <a:rPr sz="1200" b="0" i="0">
                <a:solidFill>
                  <a:srgbClr val="1F2937"/>
                </a:solidFill>
                <a:latin typeface="Arial"/>
              </a:rPr>
              <a:t>A theory for record linkage. JASA 64(328).</a:t>
            </a:r>
          </a:p>
          <a:p>
            <a:pPr>
              <a:spcAft>
                <a:spcPts val="50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[5] </a:t>
            </a:r>
            <a:r>
              <a:rPr sz="1200" b="1" i="0">
                <a:solidFill>
                  <a:srgbClr val="14284B"/>
                </a:solidFill>
                <a:latin typeface="Arial"/>
              </a:rPr>
              <a:t>Govt. of India. </a:t>
            </a:r>
            <a:r>
              <a:rPr sz="1200" b="0" i="0">
                <a:solidFill>
                  <a:srgbClr val="1F2937"/>
                </a:solidFill>
                <a:latin typeface="Arial"/>
              </a:rPr>
              <a:t>Digital Personal Data Protection Act 2023 and DPDP Rules 2025.</a:t>
            </a:r>
          </a:p>
          <a:p>
            <a:pPr>
              <a:spcAft>
                <a:spcPts val="50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[6] </a:t>
            </a:r>
            <a:r>
              <a:rPr sz="1200" b="1" i="0">
                <a:solidFill>
                  <a:srgbClr val="14284B"/>
                </a:solidFill>
                <a:latin typeface="Arial"/>
              </a:rPr>
              <a:t>Team Bugs (Oct 2026). </a:t>
            </a:r>
            <a:r>
              <a:rPr sz="1200" b="0" i="0">
                <a:solidFill>
                  <a:srgbClr val="1F2937"/>
                </a:solidFill>
                <a:latin typeface="Arial"/>
              </a:rPr>
              <a:t>SIH 26264 problem research and PRD, from public sources.</a:t>
            </a:r>
          </a:p>
        </p:txBody>
      </p:sp>
      <p:sp>
        <p:nvSpPr>
          <p:cNvPr id="17412" name="Rounded Rectangle 17411">
            <a:hlinkClick r:id="rId4"/>
          </p:cNvPr>
          <p:cNvSpPr/>
          <p:nvPr/>
        </p:nvSpPr>
        <p:spPr>
          <a:xfrm>
            <a:off x="411480" y="4572000"/>
            <a:ext cx="4069080" cy="731520"/>
          </a:xfrm>
          <a:prstGeom prst="roundRect">
            <a:avLst>
              <a:gd name="adj" fmla="val 12500"/>
            </a:avLst>
          </a:prstGeom>
          <a:solidFill>
            <a:srgbClr val="EDF1F7"/>
          </a:solidFill>
          <a:ln w="19050">
            <a:solidFill>
              <a:srgbClr val="142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>
              <a:spcAft>
                <a:spcPts val="10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LIVE PROTOTYPE</a:t>
            </a:r>
          </a:p>
          <a:p>
            <a:pPr>
              <a:spcAft>
                <a:spcPts val="0"/>
              </a:spcAft>
              <a:buNone/>
            </a:pPr>
            <a:r>
              <a:rPr sz="1500" b="1" i="0" u="sng">
                <a:solidFill>
                  <a:srgbClr val="1D4ED8"/>
                </a:solidFill>
                <a:latin typeface="Arial"/>
                <a:hlinkClick r:id="rId4"/>
              </a:rPr>
              <a:t>ekatra-nzsvx7asi-hakimk438.vercel.app</a:t>
            </a:r>
          </a:p>
        </p:txBody>
      </p:sp>
      <p:sp>
        <p:nvSpPr>
          <p:cNvPr id="17413" name="Rounded Rectangle 17412">
            <a:hlinkClick r:id="rId5"/>
          </p:cNvPr>
          <p:cNvSpPr/>
          <p:nvPr/>
        </p:nvSpPr>
        <p:spPr>
          <a:xfrm>
            <a:off x="411480" y="5413248"/>
            <a:ext cx="4069080" cy="731520"/>
          </a:xfrm>
          <a:prstGeom prst="roundRect">
            <a:avLst>
              <a:gd name="adj" fmla="val 12500"/>
            </a:avLst>
          </a:prstGeom>
          <a:solidFill>
            <a:srgbClr val="EDF1F7"/>
          </a:solidFill>
          <a:ln w="19050">
            <a:solidFill>
              <a:srgbClr val="142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>
              <a:spcAft>
                <a:spcPts val="10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SOURCE CODE</a:t>
            </a:r>
          </a:p>
          <a:p>
            <a:pPr>
              <a:spcAft>
                <a:spcPts val="0"/>
              </a:spcAft>
              <a:buNone/>
            </a:pPr>
            <a:r>
              <a:rPr sz="1500" b="1" i="0" u="sng">
                <a:solidFill>
                  <a:srgbClr val="1D4ED8"/>
                </a:solidFill>
                <a:latin typeface="Arial"/>
                <a:hlinkClick r:id="rId5"/>
              </a:rPr>
              <a:t>github.com/HakimK438/Ekatra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754880" y="1097280"/>
            <a:ext cx="7022592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HOW EKATRA COMPARES  (our reading of public information)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775704" y="1417320"/>
            <a:ext cx="950976" cy="658368"/>
          </a:xfrm>
          <a:prstGeom prst="roundRect">
            <a:avLst>
              <a:gd name="adj" fmla="val 6944"/>
            </a:avLst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7432" tIns="18288" rIns="27432" bIns="18288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rial"/>
              </a:rPr>
              <a:t>Ekatra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7781544" y="1417320"/>
            <a:ext cx="950976" cy="658368"/>
          </a:xfrm>
          <a:prstGeom prst="roundRect">
            <a:avLst>
              <a:gd name="adj" fmla="val 6944"/>
            </a:avLst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7432" tIns="18288" rIns="27432" bIns="18288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CPGRAMS / e-Office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787384" y="1417320"/>
            <a:ext cx="950976" cy="658368"/>
          </a:xfrm>
          <a:prstGeom prst="roundRect">
            <a:avLst>
              <a:gd name="adj" fmla="val 6944"/>
            </a:avLst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7432" tIns="18288" rIns="27432" bIns="18288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Shared sheets + meetings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9793224" y="1417320"/>
            <a:ext cx="950976" cy="658368"/>
          </a:xfrm>
          <a:prstGeom prst="roundRect">
            <a:avLst>
              <a:gd name="adj" fmla="val 6944"/>
            </a:avLst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7432" tIns="18288" rIns="27432" bIns="18288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BI dashboard (Power BI)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10799064" y="1417320"/>
            <a:ext cx="950976" cy="658368"/>
          </a:xfrm>
          <a:prstGeom prst="roundRect">
            <a:avLst>
              <a:gd name="adj" fmla="val 6944"/>
            </a:avLst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7432" tIns="18288" rIns="27432" bIns="18288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AI-first matching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754880" y="2130552"/>
            <a:ext cx="1901952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Shows every unit's cases for one institution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775704" y="2130552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E5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136C33"/>
                </a:solidFill>
                <a:latin typeface="Arial"/>
              </a:rPr>
              <a:t>Yes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7781544" y="2130552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4B5563"/>
                </a:solidFill>
                <a:latin typeface="Arial"/>
              </a:rPr>
              <a:t>No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8787384" y="2130552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Partly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9793224" y="2130552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Partly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10799064" y="2130552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Partly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754880" y="2596896"/>
            <a:ext cx="1901952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Warns before an officer acts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775704" y="2596896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E5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136C33"/>
                </a:solidFill>
                <a:latin typeface="Arial"/>
              </a:rPr>
              <a:t>Yes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7781544" y="2596896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4B5563"/>
                </a:solidFill>
                <a:latin typeface="Arial"/>
              </a:rPr>
              <a:t>No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8787384" y="2596896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4B5563"/>
                </a:solidFill>
                <a:latin typeface="Arial"/>
              </a:rPr>
              <a:t>No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9793224" y="2596896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4B5563"/>
                </a:solidFill>
                <a:latin typeface="Arial"/>
              </a:rPr>
              <a:t>No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10799064" y="2596896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4B5563"/>
                </a:solidFill>
                <a:latin typeface="Arial"/>
              </a:rPr>
              <a:t>No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754880" y="3063240"/>
            <a:ext cx="1901952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Ties cases to an institution by ID first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6775704" y="3063240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E5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136C33"/>
                </a:solidFill>
                <a:latin typeface="Arial"/>
              </a:rPr>
              <a:t>Yes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7781544" y="3063240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4B5563"/>
                </a:solidFill>
                <a:latin typeface="Arial"/>
              </a:rPr>
              <a:t>No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8787384" y="3063240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4B5563"/>
                </a:solidFill>
                <a:latin typeface="Arial"/>
              </a:rPr>
              <a:t>No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9793224" y="3063240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4B5563"/>
                </a:solidFill>
                <a:latin typeface="Arial"/>
              </a:rPr>
              <a:t>No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10799064" y="3063240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4B5563"/>
                </a:solidFill>
                <a:latin typeface="Arial"/>
              </a:rPr>
              <a:t>No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754880" y="3529584"/>
            <a:ext cx="1901952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Time limit per stage, with escalation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6775704" y="3529584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E5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136C33"/>
                </a:solidFill>
                <a:latin typeface="Arial"/>
              </a:rPr>
              <a:t>Yes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7781544" y="3529584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Partly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8787384" y="3529584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4B5563"/>
                </a:solidFill>
                <a:latin typeface="Arial"/>
              </a:rPr>
              <a:t>No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9793224" y="3529584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4B5563"/>
                </a:solidFill>
                <a:latin typeface="Arial"/>
              </a:rPr>
              <a:t>No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10799064" y="3529584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4B5563"/>
                </a:solidFill>
                <a:latin typeface="Arial"/>
              </a:rPr>
              <a:t>No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4754880" y="3995928"/>
            <a:ext cx="1901952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Tamper-evident record of decisions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6775704" y="3995928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E5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136C33"/>
                </a:solidFill>
                <a:latin typeface="Arial"/>
              </a:rPr>
              <a:t>Yes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7781544" y="3995928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A8530A"/>
                </a:solidFill>
                <a:latin typeface="Arial"/>
              </a:rPr>
              <a:t>Partly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8787384" y="3995928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4B5563"/>
                </a:solidFill>
                <a:latin typeface="Arial"/>
              </a:rPr>
              <a:t>No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9793224" y="3995928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4B5563"/>
                </a:solidFill>
                <a:latin typeface="Arial"/>
              </a:rPr>
              <a:t>No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10799064" y="3995928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4B5563"/>
                </a:solidFill>
                <a:latin typeface="Arial"/>
              </a:rPr>
              <a:t>No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4754880" y="4462272"/>
            <a:ext cx="1901952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0"/>
              </a:spcAft>
              <a:buNone/>
            </a:pPr>
            <a:r>
              <a:rPr sz="1200" b="1" i="0">
                <a:solidFill>
                  <a:srgbClr val="14284B"/>
                </a:solidFill>
                <a:latin typeface="Arial"/>
              </a:rPr>
              <a:t>Works with no outside AI or training data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775704" y="4462272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E5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136C33"/>
                </a:solidFill>
                <a:latin typeface="Arial"/>
              </a:rPr>
              <a:t>Yes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7781544" y="4462272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E5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136C33"/>
                </a:solidFill>
                <a:latin typeface="Arial"/>
              </a:rPr>
              <a:t>Yes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8787384" y="4462272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E5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136C33"/>
                </a:solidFill>
                <a:latin typeface="Arial"/>
              </a:rPr>
              <a:t>Yes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9793224" y="4462272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E5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136C33"/>
                </a:solidFill>
                <a:latin typeface="Arial"/>
              </a:rPr>
              <a:t>Yes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10799064" y="4462272"/>
            <a:ext cx="950976" cy="420624"/>
          </a:xfrm>
          <a:prstGeom prst="roundRect">
            <a:avLst>
              <a:gd name="adj" fmla="val 10869"/>
            </a:avLst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sz="1200" b="1" i="0">
                <a:solidFill>
                  <a:srgbClr val="4B5563"/>
                </a:solidFill>
                <a:latin typeface="Arial"/>
              </a:rPr>
              <a:t>No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4754880" y="5065776"/>
            <a:ext cx="7022592" cy="1170431"/>
          </a:xfrm>
          <a:prstGeom prst="roundRect">
            <a:avLst>
              <a:gd name="adj" fmla="val 6250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tIns="73152" rIns="137160" bIns="54864"/>
          <a:lstStyle/>
          <a:p>
            <a:pPr>
              <a:spcAft>
                <a:spcPts val="300"/>
              </a:spcAft>
              <a:buNone/>
            </a:pPr>
            <a:r>
              <a:rPr sz="1300" b="1" i="0">
                <a:solidFill>
                  <a:srgbClr val="A8530A"/>
                </a:solidFill>
                <a:latin typeface="Arial"/>
              </a:rPr>
              <a:t>What is real and what is not</a:t>
            </a:r>
          </a:p>
          <a:p>
            <a:pPr marL="155448" indent="-155448">
              <a:spcAft>
                <a:spcPts val="200"/>
              </a:spcAft>
              <a:buClr>
                <a:srgbClr val="E8821A"/>
              </a:buClr>
              <a:buFont typeface="Arial"/>
              <a:buChar char="•"/>
            </a:pPr>
            <a:r>
              <a:rPr sz="1200" b="0" i="0">
                <a:solidFill>
                  <a:srgbClr val="1F2937"/>
                </a:solidFill>
                <a:latin typeface="Arial"/>
              </a:rPr>
              <a:t>All data is synthetic; there is no public case-level AICTE data.</a:t>
            </a:r>
          </a:p>
          <a:p>
            <a:pPr marL="155448" indent="-155448">
              <a:spcAft>
                <a:spcPts val="200"/>
              </a:spcAft>
              <a:buClr>
                <a:srgbClr val="E8821A"/>
              </a:buClr>
              <a:buFont typeface="Arial"/>
              <a:buChar char="•"/>
            </a:pPr>
            <a:r>
              <a:rPr sz="1200" b="0" i="0">
                <a:solidFill>
                  <a:srgbClr val="1F2937"/>
                </a:solidFill>
                <a:latin typeface="Arial"/>
              </a:rPr>
              <a:t>Only CPGRAMS 21 days is verified; other time values are labelled prototype settings.</a:t>
            </a:r>
          </a:p>
          <a:p>
            <a:pPr marL="155448" indent="-155448">
              <a:spcAft>
                <a:spcPts val="0"/>
              </a:spcAft>
              <a:buClr>
                <a:srgbClr val="E8821A"/>
              </a:buClr>
              <a:buFont typeface="Arial"/>
              <a:buChar char="•"/>
            </a:pPr>
            <a:r>
              <a:rPr sz="1200" b="0" i="0">
                <a:solidFill>
                  <a:srgbClr val="1F2937"/>
                </a:solidFill>
                <a:latin typeface="Arial"/>
              </a:rPr>
              <a:t>Advisory only: never decides, merges or closes; works beside CPGRAMS and e-Office.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D4ED8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